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  <p:sldMasterId id="214748365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DCDA6A-2ABF-46EA-AEC5-E7FE751CA881}">
  <a:tblStyle styleId="{E2DCDA6A-2ABF-46EA-AEC5-E7FE751CA88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>
  <p:cSld name="TITLE_SLIDE">
    <p:bg>
      <p:bgPr>
        <a:solidFill>
          <a:srgbClr val="14213D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ubeVirt logo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72800" y="5852160"/>
            <a:ext cx="777240" cy="77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KubeVirt Summit 2026  ·  Sören Henning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ubeVirt logo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47120" y="63733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548640" y="320040"/>
            <a:ext cx="9235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  <a:defRPr b="1" i="0" sz="32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04241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>
  <p:cSld name="TITLE_SLIDE">
    <p:bg>
      <p:bgPr>
        <a:solidFill>
          <a:srgbClr val="14213D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ubeVirt logo" id="22" name="Google Shape;2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72800" y="5852160"/>
            <a:ext cx="777240" cy="77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/>
          <p:nvPr/>
        </p:nvSpPr>
        <p:spPr>
          <a:xfrm>
            <a:off x="548640" y="6446520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KubeVirt Summit 2026  ·  Sören Henning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ubeVirt logo" id="25" name="Google Shape;2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47120" y="63733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7"/>
          <p:cNvSpPr txBox="1"/>
          <p:nvPr>
            <p:ph type="title"/>
          </p:nvPr>
        </p:nvSpPr>
        <p:spPr>
          <a:xfrm>
            <a:off x="548640" y="320040"/>
            <a:ext cx="9235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  <a:defRPr b="1" i="0" sz="32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10424160" y="644652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/>
          <p:nvPr/>
        </p:nvSpPr>
        <p:spPr>
          <a:xfrm>
            <a:off x="548640" y="6446520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KubeVirt Summit 2026  ·  Sören Henning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ubeVirt logo" id="33" name="Google Shape;3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47120" y="63733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0"/>
          <p:cNvSpPr txBox="1"/>
          <p:nvPr>
            <p:ph type="title"/>
          </p:nvPr>
        </p:nvSpPr>
        <p:spPr>
          <a:xfrm>
            <a:off x="548640" y="320040"/>
            <a:ext cx="9235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  <a:defRPr b="1" i="0" sz="32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10424160" y="644652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>
  <p:cSld name="TITLE_SLIDE">
    <p:bg>
      <p:bgPr>
        <a:solidFill>
          <a:srgbClr val="14213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ubeVirt logo" id="37" name="Google Shape;3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72800" y="5852160"/>
            <a:ext cx="777240" cy="77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1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4241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0424160" y="644652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10424160" y="644652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822960" y="173736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Secondary networks for KubeVirt VMs with DRA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3"/>
          <p:cNvSpPr/>
          <p:nvPr/>
        </p:nvSpPr>
        <p:spPr>
          <a:xfrm>
            <a:off x="822960" y="36576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D8DD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9FD8DD"/>
                </a:solidFill>
                <a:latin typeface="Calibri"/>
                <a:ea typeface="Calibri"/>
                <a:cs typeface="Calibri"/>
                <a:sym typeface="Calibri"/>
              </a:rPr>
              <a:t>DRA on kube-ovn, compared with Multus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D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rgbClr val="9FD8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3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Sören Henning  ·  Kubermatic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3"/>
          <p:cNvSpPr/>
          <p:nvPr/>
        </p:nvSpPr>
        <p:spPr>
          <a:xfrm>
            <a:off x="822960" y="5532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KubeVirt Summit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ören Henning" id="48" name="Google Shape;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5440" y="2103120"/>
            <a:ext cx="2468880" cy="246888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548640" y="320040"/>
            <a:ext cx="9235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Why look beyond Multus?</a:t>
            </a:r>
            <a:endParaRPr sz="3200"/>
          </a:p>
        </p:txBody>
      </p:sp>
      <p:sp>
        <p:nvSpPr>
          <p:cNvPr id="55" name="Google Shape;55;p14"/>
          <p:cNvSpPr/>
          <p:nvPr/>
        </p:nvSpPr>
        <p:spPr>
          <a:xfrm>
            <a:off x="548640" y="1371600"/>
            <a:ext cx="3566160" cy="2926080"/>
          </a:xfrm>
          <a:prstGeom prst="roundRect">
            <a:avLst>
              <a:gd fmla="val 3125" name="adj"/>
            </a:avLst>
          </a:prstGeom>
          <a:solidFill>
            <a:srgbClr val="F4F7FA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822960" y="23774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Scheduler is blind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822960" y="2926080"/>
            <a:ext cx="3017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The scheduler never sees the secondary NIC, so it cannot refuse a pod when the IP pool is full.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rgbClr val="3341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4297680" y="1371600"/>
            <a:ext cx="3566160" cy="2926080"/>
          </a:xfrm>
          <a:prstGeom prst="roundRect">
            <a:avLst>
              <a:gd fmla="val 3125" name="adj"/>
            </a:avLst>
          </a:prstGeom>
          <a:solidFill>
            <a:srgbClr val="F4F7FA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4572000" y="16459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572000" y="23774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No lifecycle object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572000" y="2926080"/>
            <a:ext cx="3017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Each CNI keeps it in its own objects, like kube-ovn's IP resources. The scheduler sees none of them.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rgbClr val="3341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8046720" y="1371600"/>
            <a:ext cx="3566160" cy="2926080"/>
          </a:xfrm>
          <a:prstGeom prst="roundRect">
            <a:avLst>
              <a:gd fmla="val 3125" name="adj"/>
            </a:avLst>
          </a:prstGeom>
          <a:solidFill>
            <a:srgbClr val="F4F7FA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8321040" y="16459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8321040" y="23774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Serial attach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8321040" y="2926080"/>
            <a:ext cx="3017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Multus calls delegate CNIs one after another, so latency grows with the number of NICs.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fmla="val 7407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822960" y="4754880"/>
            <a:ext cx="10515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9FD8DD"/>
                </a:solidFill>
                <a:latin typeface="Cambria"/>
                <a:ea typeface="Cambria"/>
                <a:cs typeface="Cambria"/>
                <a:sym typeface="Cambria"/>
              </a:rPr>
              <a:t>The question 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Does DRA do better for kube-ovn's SDN NICs?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 txBox="1"/>
          <p:nvPr>
            <p:ph idx="4294967295" type="sldNum"/>
          </p:nvPr>
        </p:nvSpPr>
        <p:spPr>
          <a:xfrm>
            <a:off x="104241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548640" y="320040"/>
            <a:ext cx="9235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From KNDM to kube-ovn</a:t>
            </a:r>
            <a:endParaRPr sz="3200"/>
          </a:p>
        </p:txBody>
      </p:sp>
      <p:sp>
        <p:nvSpPr>
          <p:cNvPr id="79" name="Google Shape;79;p15"/>
          <p:cNvSpPr/>
          <p:nvPr/>
        </p:nvSpPr>
        <p:spPr>
          <a:xfrm>
            <a:off x="548640" y="1325880"/>
            <a:ext cx="3383280" cy="1417320"/>
          </a:xfrm>
          <a:prstGeom prst="roundRect">
            <a:avLst>
              <a:gd fmla="val 6452" name="adj"/>
            </a:avLst>
          </a:prstGeom>
          <a:solidFill>
            <a:srgbClr val="F4F7FA"/>
          </a:solidFill>
          <a:ln cap="flat" cmpd="sng" w="15875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800" lIns="177800" spcFirstLastPara="1" rIns="177800" wrap="square" tIns="17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KNDM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400"/>
              <a:buFont typeface="Calibri"/>
              <a:buNone/>
            </a:pPr>
            <a:r>
              <a:rPr lang="en-US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Kubernetes Network Driver Model: declarative networking on DRA + Node Resource Interface (NRI), instead of CNI and Multus chains</a:t>
            </a:r>
            <a:endParaRPr b="1" sz="2200">
              <a:solidFill>
                <a:srgbClr val="1421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80" name="Google Shape;80;p15"/>
          <p:cNvCxnSpPr/>
          <p:nvPr/>
        </p:nvCxnSpPr>
        <p:spPr>
          <a:xfrm>
            <a:off x="3931920" y="2029968"/>
            <a:ext cx="457200" cy="0"/>
          </a:xfrm>
          <a:prstGeom prst="straightConnector1">
            <a:avLst/>
          </a:prstGeom>
          <a:noFill/>
          <a:ln cap="flat" cmpd="sng" w="38100">
            <a:solidFill>
              <a:srgbClr val="F2A0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" name="Google Shape;81;p15"/>
          <p:cNvSpPr/>
          <p:nvPr/>
        </p:nvSpPr>
        <p:spPr>
          <a:xfrm>
            <a:off x="4389120" y="1325880"/>
            <a:ext cx="3383280" cy="1417320"/>
          </a:xfrm>
          <a:prstGeom prst="roundRect">
            <a:avLst>
              <a:gd fmla="val 6452" name="adj"/>
            </a:avLst>
          </a:prstGeom>
          <a:solidFill>
            <a:srgbClr val="DCE8F5"/>
          </a:solidFill>
          <a:ln cap="flat" cmpd="sng" w="15875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800" lIns="177800" spcFirstLastPara="1" rIns="1778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DraNet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The implementation (kubernetes-sigs): discovers host devices and moves them into the pod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15"/>
          <p:cNvCxnSpPr/>
          <p:nvPr/>
        </p:nvCxnSpPr>
        <p:spPr>
          <a:xfrm>
            <a:off x="7772400" y="2029968"/>
            <a:ext cx="457200" cy="0"/>
          </a:xfrm>
          <a:prstGeom prst="straightConnector1">
            <a:avLst/>
          </a:prstGeom>
          <a:noFill/>
          <a:ln cap="flat" cmpd="sng" w="38100">
            <a:solidFill>
              <a:srgbClr val="F2A0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" name="Google Shape;83;p15"/>
          <p:cNvSpPr/>
          <p:nvPr/>
        </p:nvSpPr>
        <p:spPr>
          <a:xfrm>
            <a:off x="8229600" y="1325880"/>
            <a:ext cx="3383280" cy="1417320"/>
          </a:xfrm>
          <a:prstGeom prst="roundRect">
            <a:avLst>
              <a:gd fmla="val 6452" name="adj"/>
            </a:avLst>
          </a:prstGeom>
          <a:solidFill>
            <a:srgbClr val="D9F0EC"/>
          </a:solidFill>
          <a:ln cap="flat" cmpd="sng" w="28575">
            <a:solidFill>
              <a:srgbClr val="3C9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800" lIns="177800" spcFirstLastPara="1" rIns="1778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This work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Same DRA + NRI pattern, with an SDN backend (kube-ovn) instead of hardware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548640" y="276148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arXiv 2506.23628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548640" y="3154680"/>
            <a:ext cx="5394960" cy="1691640"/>
          </a:xfrm>
          <a:prstGeom prst="roundRect">
            <a:avLst>
              <a:gd fmla="val 5405" name="adj"/>
            </a:avLst>
          </a:prstGeom>
          <a:solidFill>
            <a:srgbClr val="F4F7FA"/>
          </a:solidFill>
          <a:ln cap="flat" cmpd="sng" w="15875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777240" y="3200400"/>
            <a:ext cx="49377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Hardware backend (DraNet)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e.g. PCI NICs, SR-IOV VFs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Discovers real devices on the host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Attach = move an existing device into the netns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6217920" y="3154680"/>
            <a:ext cx="5394960" cy="1691640"/>
          </a:xfrm>
          <a:prstGeom prst="roundRect">
            <a:avLst>
              <a:gd fmla="val 5405" name="adj"/>
            </a:avLst>
          </a:prstGeom>
          <a:solidFill>
            <a:srgbClr val="D9F0EC"/>
          </a:solidFill>
          <a:ln cap="flat" cmpd="sng" w="15875">
            <a:solidFill>
              <a:srgbClr val="3C9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6446520" y="3200400"/>
            <a:ext cx="49377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SDN backend (kube-ovn)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D6F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6F66"/>
                </a:solidFill>
                <a:latin typeface="Calibri"/>
                <a:ea typeface="Calibri"/>
                <a:cs typeface="Calibri"/>
                <a:sym typeface="Calibri"/>
              </a:rPr>
              <a:t>nothing to discover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The NIC is synthesized on demand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33415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Attach = create: veth, OVS port, IP, logical port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9FD8DD"/>
                </a:solidFill>
                <a:latin typeface="Cambria"/>
                <a:ea typeface="Cambria"/>
                <a:cs typeface="Cambria"/>
                <a:sym typeface="Cambria"/>
              </a:rPr>
              <a:t>Design principle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controller owns allocation. The node side only plugs.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 txBox="1"/>
          <p:nvPr>
            <p:ph idx="4294967295" type="sldNum"/>
          </p:nvPr>
        </p:nvSpPr>
        <p:spPr>
          <a:xfrm>
            <a:off x="104241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548640" y="320040"/>
            <a:ext cx="9235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kube-ovn in one slide</a:t>
            </a:r>
            <a:endParaRPr sz="3200"/>
          </a:p>
        </p:txBody>
      </p:sp>
      <p:sp>
        <p:nvSpPr>
          <p:cNvPr id="98" name="Google Shape;98;p16"/>
          <p:cNvSpPr/>
          <p:nvPr/>
        </p:nvSpPr>
        <p:spPr>
          <a:xfrm>
            <a:off x="548640" y="1325880"/>
            <a:ext cx="2286000" cy="1417320"/>
          </a:xfrm>
          <a:prstGeom prst="roundRect">
            <a:avLst>
              <a:gd fmla="val 6452" name="adj"/>
            </a:avLst>
          </a:prstGeom>
          <a:solidFill>
            <a:srgbClr val="DCE8F5"/>
          </a:solidFill>
          <a:ln cap="flat" cmpd="sng" w="15875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OVN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SDN control plane. Logical switches and routers become OVS flows on every node.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16"/>
          <p:cNvCxnSpPr/>
          <p:nvPr/>
        </p:nvCxnSpPr>
        <p:spPr>
          <a:xfrm>
            <a:off x="2834640" y="2029968"/>
            <a:ext cx="246888" cy="0"/>
          </a:xfrm>
          <a:prstGeom prst="straightConnector1">
            <a:avLst/>
          </a:prstGeom>
          <a:noFill/>
          <a:ln cap="flat" cmpd="sng" w="38100">
            <a:solidFill>
              <a:srgbClr val="F2A0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" name="Google Shape;100;p16"/>
          <p:cNvSpPr/>
          <p:nvPr/>
        </p:nvSpPr>
        <p:spPr>
          <a:xfrm>
            <a:off x="3081528" y="1325880"/>
            <a:ext cx="2011680" cy="1417320"/>
          </a:xfrm>
          <a:prstGeom prst="roundRect">
            <a:avLst>
              <a:gd fmla="val 6452" name="adj"/>
            </a:avLst>
          </a:prstGeom>
          <a:solidFill>
            <a:srgbClr val="DCE8F5"/>
          </a:solidFill>
          <a:ln cap="flat" cmpd="sng" w="15875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VPC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Isolated L3 domain with its own logical router.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16"/>
          <p:cNvCxnSpPr/>
          <p:nvPr/>
        </p:nvCxnSpPr>
        <p:spPr>
          <a:xfrm>
            <a:off x="5093208" y="2029968"/>
            <a:ext cx="246888" cy="0"/>
          </a:xfrm>
          <a:prstGeom prst="straightConnector1">
            <a:avLst/>
          </a:prstGeom>
          <a:noFill/>
          <a:ln cap="flat" cmpd="sng" w="38100">
            <a:solidFill>
              <a:srgbClr val="F2A0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" name="Google Shape;102;p16"/>
          <p:cNvSpPr/>
          <p:nvPr/>
        </p:nvSpPr>
        <p:spPr>
          <a:xfrm>
            <a:off x="5340096" y="1325880"/>
            <a:ext cx="2377440" cy="1417320"/>
          </a:xfrm>
          <a:prstGeom prst="roundRect">
            <a:avLst>
              <a:gd fmla="val 6452" name="adj"/>
            </a:avLst>
          </a:prstGeom>
          <a:solidFill>
            <a:srgbClr val="DCE8F5"/>
          </a:solidFill>
          <a:ln cap="flat" cmpd="sng" w="15875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Subnet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IP pool + L2 domain, always in exactly one VPC.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16"/>
          <p:cNvCxnSpPr/>
          <p:nvPr/>
        </p:nvCxnSpPr>
        <p:spPr>
          <a:xfrm>
            <a:off x="7717536" y="2029968"/>
            <a:ext cx="246888" cy="0"/>
          </a:xfrm>
          <a:prstGeom prst="straightConnector1">
            <a:avLst/>
          </a:prstGeom>
          <a:noFill/>
          <a:ln cap="flat" cmpd="sng" w="38100">
            <a:solidFill>
              <a:srgbClr val="F2A0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" name="Google Shape;104;p16"/>
          <p:cNvSpPr/>
          <p:nvPr/>
        </p:nvSpPr>
        <p:spPr>
          <a:xfrm>
            <a:off x="7964424" y="1325880"/>
            <a:ext cx="3648456" cy="1417320"/>
          </a:xfrm>
          <a:prstGeom prst="roundRect">
            <a:avLst>
              <a:gd fmla="val 6452" name="adj"/>
            </a:avLst>
          </a:prstGeom>
          <a:solidFill>
            <a:srgbClr val="D9F0EC"/>
          </a:solidFill>
          <a:ln cap="flat" cmpd="sng" w="15875">
            <a:solidFill>
              <a:srgbClr val="3C9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Overlay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OVN virtual network between nodes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Underlay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ProviderNetwork: a host NIC bridged into OVS, plus a Vlan for the tag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48640" y="3017520"/>
            <a:ext cx="3383280" cy="3108960"/>
          </a:xfrm>
          <a:prstGeom prst="roundRect">
            <a:avLst>
              <a:gd fmla="val 2941" name="adj"/>
            </a:avLst>
          </a:prstGeom>
          <a:solidFill>
            <a:srgbClr val="F4F7FA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777240" y="3108960"/>
            <a:ext cx="29718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Flat IPAM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One CIDR per subnet, across all nodes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The logical switch spans every node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The scheduler picks the node, then the IP comes from the pool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C6B7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Not a /27 per node like the default pod CIDR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4160520" y="3017520"/>
            <a:ext cx="3657600" cy="3108960"/>
          </a:xfrm>
          <a:prstGeom prst="roundRect">
            <a:avLst>
              <a:gd fmla="val 2941" name="adj"/>
            </a:avLst>
          </a:prstGeom>
          <a:solidFill>
            <a:srgbClr val="DCE8F5"/>
          </a:solidFill>
          <a:ln cap="flat" cmpd="sng" w="15875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4389120" y="3108960"/>
            <a:ext cx="32461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kube-ovn-controller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Resolves device → subnet → provider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IPAM: IP + MAC, logical port, IP CR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Writes the pod annotations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GC keeps a stopped VM's ports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7955280" y="3017520"/>
            <a:ext cx="3657600" cy="3108960"/>
          </a:xfrm>
          <a:prstGeom prst="roundRect">
            <a:avLst>
              <a:gd fmla="val 2941" name="adj"/>
            </a:avLst>
          </a:prstGeom>
          <a:solidFill>
            <a:srgbClr val="D9F0EC"/>
          </a:solidFill>
          <a:ln cap="flat" cmpd="sng" w="15875">
            <a:solidFill>
              <a:srgbClr val="3C9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8183880" y="3108960"/>
            <a:ext cx="32461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kube-ovn-dra-driver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Publisher: one pool per subnet, free IPs as capacity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Plugin: waits for allocated=true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Plugin: plugs the NIC (VMs: tap + DHCP)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3415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Plugin: detaches on pod delete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 txBox="1"/>
          <p:nvPr>
            <p:ph idx="4294967295" type="sldNum"/>
          </p:nvPr>
        </p:nvSpPr>
        <p:spPr>
          <a:xfrm>
            <a:off x="104241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548640" y="320040"/>
            <a:ext cx="9235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Control plane: the claim decides</a:t>
            </a:r>
            <a:endParaRPr sz="3200"/>
          </a:p>
        </p:txBody>
      </p:sp>
      <p:sp>
        <p:nvSpPr>
          <p:cNvPr id="118" name="Google Shape;118;p17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The publisher announces the subnets and their free IPs. The claim is a scheduling input; kube-ovn allocates.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457200" y="1463040"/>
            <a:ext cx="11274552" cy="1965960"/>
          </a:xfrm>
          <a:prstGeom prst="roundRect">
            <a:avLst>
              <a:gd fmla="val 3721" name="adj"/>
            </a:avLst>
          </a:prstGeom>
          <a:solidFill>
            <a:srgbClr val="F3F7FB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594360" y="149961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CONTROL PLANE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731520" y="1828800"/>
            <a:ext cx="1737360" cy="1234440"/>
          </a:xfrm>
          <a:prstGeom prst="roundRect">
            <a:avLst>
              <a:gd fmla="val 5926" name="adj"/>
            </a:avLst>
          </a:prstGeom>
          <a:solidFill>
            <a:srgbClr val="DCE8F5"/>
          </a:solidFill>
          <a:ln cap="flat" cmpd="sng" w="15875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publisher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one pool per subnet,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free IPs as capacity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2761488" y="1828800"/>
            <a:ext cx="1874520" cy="1234440"/>
          </a:xfrm>
          <a:prstGeom prst="roundRect">
            <a:avLst>
              <a:gd fmla="val 5926" name="adj"/>
            </a:avLst>
          </a:prstGeom>
          <a:solidFill>
            <a:srgbClr val="DCE8F5"/>
          </a:solidFill>
          <a:ln cap="flat" cmpd="sng" w="15875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Pod / VM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+ ResourceClaim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subnetName, interfaceName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5056632" y="1828800"/>
            <a:ext cx="1874520" cy="1234440"/>
          </a:xfrm>
          <a:prstGeom prst="roundRect">
            <a:avLst>
              <a:gd fmla="val 5926" name="adj"/>
            </a:avLst>
          </a:prstGeom>
          <a:solidFill>
            <a:srgbClr val="DCE8F5"/>
          </a:solidFill>
          <a:ln cap="flat" cmpd="sng" w="15875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kube-scheduler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allocates a device,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binds the pod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7351776" y="1828800"/>
            <a:ext cx="2331720" cy="1234440"/>
          </a:xfrm>
          <a:prstGeom prst="roundRect">
            <a:avLst>
              <a:gd fmla="val 5926" name="adj"/>
            </a:avLst>
          </a:prstGeom>
          <a:solidFill>
            <a:srgbClr val="DCE8F5"/>
          </a:solidFill>
          <a:ln cap="flat" cmpd="sng" w="15875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kube-ovn-controller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IPAM, logical port, IP CR,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annotations allocated=true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10104120" y="1828800"/>
            <a:ext cx="1371600" cy="1234440"/>
          </a:xfrm>
          <a:prstGeom prst="roundRect">
            <a:avLst>
              <a:gd fmla="val 5926" name="adj"/>
            </a:avLst>
          </a:prstGeom>
          <a:solidFill>
            <a:srgbClr val="DCE8F5"/>
          </a:solidFill>
          <a:ln cap="flat" cmpd="sng" w="15875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OVN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logical switch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7"/>
          <p:cNvCxnSpPr/>
          <p:nvPr/>
        </p:nvCxnSpPr>
        <p:spPr>
          <a:xfrm>
            <a:off x="4636008" y="2441448"/>
            <a:ext cx="420624" cy="0"/>
          </a:xfrm>
          <a:prstGeom prst="straightConnector1">
            <a:avLst/>
          </a:prstGeom>
          <a:noFill/>
          <a:ln cap="flat" cmpd="sng" w="22225">
            <a:solidFill>
              <a:srgbClr val="1421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" name="Google Shape;127;p17"/>
          <p:cNvSpPr/>
          <p:nvPr/>
        </p:nvSpPr>
        <p:spPr>
          <a:xfrm>
            <a:off x="4690872" y="1947672"/>
            <a:ext cx="310896" cy="310896"/>
          </a:xfrm>
          <a:prstGeom prst="ellipse">
            <a:avLst/>
          </a:prstGeom>
          <a:solidFill>
            <a:srgbClr val="F2A0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4690872" y="1947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7"/>
          <p:cNvCxnSpPr/>
          <p:nvPr/>
        </p:nvCxnSpPr>
        <p:spPr>
          <a:xfrm>
            <a:off x="6931152" y="2441448"/>
            <a:ext cx="420624" cy="0"/>
          </a:xfrm>
          <a:prstGeom prst="straightConnector1">
            <a:avLst/>
          </a:prstGeom>
          <a:noFill/>
          <a:ln cap="flat" cmpd="sng" w="22225">
            <a:solidFill>
              <a:srgbClr val="1421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" name="Google Shape;130;p17"/>
          <p:cNvSpPr/>
          <p:nvPr/>
        </p:nvSpPr>
        <p:spPr>
          <a:xfrm>
            <a:off x="6986016" y="1947672"/>
            <a:ext cx="310896" cy="310896"/>
          </a:xfrm>
          <a:prstGeom prst="ellipse">
            <a:avLst/>
          </a:prstGeom>
          <a:solidFill>
            <a:srgbClr val="F2A0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986016" y="1947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17"/>
          <p:cNvCxnSpPr/>
          <p:nvPr/>
        </p:nvCxnSpPr>
        <p:spPr>
          <a:xfrm>
            <a:off x="9683496" y="2441448"/>
            <a:ext cx="420624" cy="0"/>
          </a:xfrm>
          <a:prstGeom prst="straightConnector1">
            <a:avLst/>
          </a:prstGeom>
          <a:noFill/>
          <a:ln cap="flat" cmpd="sng" w="22225">
            <a:solidFill>
              <a:srgbClr val="1421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" name="Google Shape;133;p17"/>
          <p:cNvSpPr/>
          <p:nvPr/>
        </p:nvSpPr>
        <p:spPr>
          <a:xfrm>
            <a:off x="9738360" y="1947672"/>
            <a:ext cx="310896" cy="310896"/>
          </a:xfrm>
          <a:prstGeom prst="ellipse">
            <a:avLst/>
          </a:prstGeom>
          <a:solidFill>
            <a:srgbClr val="F2A0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9738360" y="1947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7"/>
          <p:cNvCxnSpPr/>
          <p:nvPr/>
        </p:nvCxnSpPr>
        <p:spPr>
          <a:xfrm>
            <a:off x="1600200" y="3063240"/>
            <a:ext cx="0" cy="182880"/>
          </a:xfrm>
          <a:prstGeom prst="straightConnector1">
            <a:avLst/>
          </a:prstGeom>
          <a:noFill/>
          <a:ln cap="flat" cmpd="sng" w="22225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17"/>
          <p:cNvCxnSpPr/>
          <p:nvPr/>
        </p:nvCxnSpPr>
        <p:spPr>
          <a:xfrm>
            <a:off x="1600200" y="3246120"/>
            <a:ext cx="4393692" cy="0"/>
          </a:xfrm>
          <a:prstGeom prst="straightConnector1">
            <a:avLst/>
          </a:prstGeom>
          <a:noFill/>
          <a:ln cap="flat" cmpd="sng" w="22225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17"/>
          <p:cNvCxnSpPr/>
          <p:nvPr/>
        </p:nvCxnSpPr>
        <p:spPr>
          <a:xfrm rot="10800000">
            <a:off x="5993892" y="3063240"/>
            <a:ext cx="0" cy="182880"/>
          </a:xfrm>
          <a:prstGeom prst="straightConnector1">
            <a:avLst/>
          </a:prstGeom>
          <a:noFill/>
          <a:ln cap="flat" cmpd="sng" w="22225">
            <a:solidFill>
              <a:srgbClr val="1421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" name="Google Shape;138;p17"/>
          <p:cNvSpPr/>
          <p:nvPr/>
        </p:nvSpPr>
        <p:spPr>
          <a:xfrm>
            <a:off x="3641598" y="3090672"/>
            <a:ext cx="310896" cy="310896"/>
          </a:xfrm>
          <a:prstGeom prst="ellipse">
            <a:avLst/>
          </a:prstGeom>
          <a:solidFill>
            <a:srgbClr val="F2A0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3641598" y="3090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>
            <p:ph idx="4294967295" type="sldNum"/>
          </p:nvPr>
        </p:nvSpPr>
        <p:spPr>
          <a:xfrm>
            <a:off x="104241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type="title"/>
          </p:nvPr>
        </p:nvSpPr>
        <p:spPr>
          <a:xfrm>
            <a:off x="548640" y="320040"/>
            <a:ext cx="9235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Node: the driver only plugs</a:t>
            </a:r>
            <a:endParaRPr sz="3200"/>
          </a:p>
        </p:txBody>
      </p:sp>
      <p:sp>
        <p:nvSpPr>
          <p:cNvPr id="147" name="Google Shape;147;p18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At Prepare the pod netns does not exist yet, and the NRI window is about 2 s. Hence two phases.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57200" y="1463040"/>
            <a:ext cx="11274552" cy="1965960"/>
          </a:xfrm>
          <a:prstGeom prst="roundRect">
            <a:avLst>
              <a:gd fmla="val 3721" name="adj"/>
            </a:avLst>
          </a:prstGeom>
          <a:solidFill>
            <a:srgbClr val="F3F7FB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94360" y="149961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CONTROL PLANE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57200" y="3566160"/>
            <a:ext cx="11274552" cy="2743200"/>
          </a:xfrm>
          <a:prstGeom prst="roundRect">
            <a:avLst>
              <a:gd fmla="val 2667" name="adj"/>
            </a:avLst>
          </a:prstGeom>
          <a:solidFill>
            <a:srgbClr val="F3F9F7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94360" y="360273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NODE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731520" y="1828800"/>
            <a:ext cx="1737360" cy="1234440"/>
          </a:xfrm>
          <a:prstGeom prst="roundRect">
            <a:avLst>
              <a:gd fmla="val 5926" name="adj"/>
            </a:avLst>
          </a:prstGeom>
          <a:solidFill>
            <a:srgbClr val="DCE8F5">
              <a:alpha val="20000"/>
            </a:srgbClr>
          </a:solidFill>
          <a:ln cap="flat" cmpd="sng" w="15875">
            <a:solidFill>
              <a:srgbClr val="5B7FA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publisher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one pool per subnet,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free IPs as capacity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2761488" y="1828800"/>
            <a:ext cx="1874520" cy="1234440"/>
          </a:xfrm>
          <a:prstGeom prst="roundRect">
            <a:avLst>
              <a:gd fmla="val 5926" name="adj"/>
            </a:avLst>
          </a:prstGeom>
          <a:solidFill>
            <a:srgbClr val="DCE8F5">
              <a:alpha val="20000"/>
            </a:srgbClr>
          </a:solidFill>
          <a:ln cap="flat" cmpd="sng" w="15875">
            <a:solidFill>
              <a:srgbClr val="5B7FA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Pod / VM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+ ResourceClaim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subnetName, interfaceName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056632" y="1828800"/>
            <a:ext cx="1874520" cy="1234440"/>
          </a:xfrm>
          <a:prstGeom prst="roundRect">
            <a:avLst>
              <a:gd fmla="val 5926" name="adj"/>
            </a:avLst>
          </a:prstGeom>
          <a:solidFill>
            <a:srgbClr val="DCE8F5">
              <a:alpha val="20000"/>
            </a:srgbClr>
          </a:solidFill>
          <a:ln cap="flat" cmpd="sng" w="15875">
            <a:solidFill>
              <a:srgbClr val="5B7FA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kube-scheduler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allocates a device,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binds the pod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7351776" y="1828800"/>
            <a:ext cx="2331720" cy="1234440"/>
          </a:xfrm>
          <a:prstGeom prst="roundRect">
            <a:avLst>
              <a:gd fmla="val 5926" name="adj"/>
            </a:avLst>
          </a:prstGeom>
          <a:solidFill>
            <a:srgbClr val="DCE8F5">
              <a:alpha val="20000"/>
            </a:srgbClr>
          </a:solidFill>
          <a:ln cap="flat" cmpd="sng" w="15875">
            <a:solidFill>
              <a:srgbClr val="5B7FA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kube-ovn-controller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IPAM, logical port, IP CR,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annotations allocated=true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10104120" y="1828800"/>
            <a:ext cx="1371600" cy="1234440"/>
          </a:xfrm>
          <a:prstGeom prst="roundRect">
            <a:avLst>
              <a:gd fmla="val 5926" name="adj"/>
            </a:avLst>
          </a:prstGeom>
          <a:solidFill>
            <a:srgbClr val="DCE8F5">
              <a:alpha val="20000"/>
            </a:srgbClr>
          </a:solidFill>
          <a:ln cap="flat" cmpd="sng" w="15875">
            <a:solidFill>
              <a:srgbClr val="5B7FA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OVN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logical switch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18"/>
          <p:cNvCxnSpPr/>
          <p:nvPr/>
        </p:nvCxnSpPr>
        <p:spPr>
          <a:xfrm>
            <a:off x="4636008" y="2441448"/>
            <a:ext cx="420624" cy="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18"/>
          <p:cNvSpPr/>
          <p:nvPr/>
        </p:nvSpPr>
        <p:spPr>
          <a:xfrm>
            <a:off x="4690872" y="1947672"/>
            <a:ext cx="310896" cy="310896"/>
          </a:xfrm>
          <a:prstGeom prst="ellipse">
            <a:avLst/>
          </a:prstGeom>
          <a:solidFill>
            <a:srgbClr val="F2A03D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4690872" y="1947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18"/>
          <p:cNvCxnSpPr/>
          <p:nvPr/>
        </p:nvCxnSpPr>
        <p:spPr>
          <a:xfrm>
            <a:off x="6931152" y="2441448"/>
            <a:ext cx="420624" cy="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18"/>
          <p:cNvSpPr/>
          <p:nvPr/>
        </p:nvSpPr>
        <p:spPr>
          <a:xfrm>
            <a:off x="6986016" y="1947672"/>
            <a:ext cx="310896" cy="310896"/>
          </a:xfrm>
          <a:prstGeom prst="ellipse">
            <a:avLst/>
          </a:prstGeom>
          <a:solidFill>
            <a:srgbClr val="F2A03D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986016" y="1947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18"/>
          <p:cNvCxnSpPr/>
          <p:nvPr/>
        </p:nvCxnSpPr>
        <p:spPr>
          <a:xfrm>
            <a:off x="9683496" y="2441448"/>
            <a:ext cx="420624" cy="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" name="Google Shape;164;p18"/>
          <p:cNvSpPr/>
          <p:nvPr/>
        </p:nvSpPr>
        <p:spPr>
          <a:xfrm>
            <a:off x="9738360" y="1947672"/>
            <a:ext cx="310896" cy="310896"/>
          </a:xfrm>
          <a:prstGeom prst="ellipse">
            <a:avLst/>
          </a:prstGeom>
          <a:solidFill>
            <a:srgbClr val="F2A03D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738360" y="1947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18"/>
          <p:cNvCxnSpPr/>
          <p:nvPr/>
        </p:nvCxnSpPr>
        <p:spPr>
          <a:xfrm>
            <a:off x="1600200" y="3063240"/>
            <a:ext cx="0" cy="18288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18"/>
          <p:cNvCxnSpPr/>
          <p:nvPr/>
        </p:nvCxnSpPr>
        <p:spPr>
          <a:xfrm>
            <a:off x="1600200" y="3246120"/>
            <a:ext cx="4393692" cy="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18"/>
          <p:cNvCxnSpPr/>
          <p:nvPr/>
        </p:nvCxnSpPr>
        <p:spPr>
          <a:xfrm rot="10800000">
            <a:off x="5993892" y="3063240"/>
            <a:ext cx="0" cy="18288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9" name="Google Shape;169;p18"/>
          <p:cNvSpPr/>
          <p:nvPr/>
        </p:nvSpPr>
        <p:spPr>
          <a:xfrm>
            <a:off x="3641598" y="3090672"/>
            <a:ext cx="310896" cy="310896"/>
          </a:xfrm>
          <a:prstGeom prst="ellipse">
            <a:avLst/>
          </a:prstGeom>
          <a:solidFill>
            <a:srgbClr val="F2A03D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3641598" y="3090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731520" y="4023360"/>
            <a:ext cx="2103120" cy="914400"/>
          </a:xfrm>
          <a:prstGeom prst="roundRect">
            <a:avLst>
              <a:gd fmla="val 8000" name="adj"/>
            </a:avLst>
          </a:prstGeom>
          <a:solidFill>
            <a:srgbClr val="D9F0EC"/>
          </a:solidFill>
          <a:ln cap="flat" cmpd="sng" w="15875">
            <a:solidFill>
              <a:srgbClr val="3C9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kubelet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NodePrepareResources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31520" y="5257800"/>
            <a:ext cx="2103120" cy="914400"/>
          </a:xfrm>
          <a:prstGeom prst="roundRect">
            <a:avLst>
              <a:gd fmla="val 8000" name="adj"/>
            </a:avLst>
          </a:prstGeom>
          <a:solidFill>
            <a:srgbClr val="D9F0EC"/>
          </a:solidFill>
          <a:ln cap="flat" cmpd="sng" w="15875">
            <a:solidFill>
              <a:srgbClr val="3C9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containerd + NRI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RunPodSandbox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3383280" y="4023360"/>
            <a:ext cx="3200400" cy="2148840"/>
          </a:xfrm>
          <a:prstGeom prst="roundRect">
            <a:avLst>
              <a:gd fmla="val 3404" name="adj"/>
            </a:avLst>
          </a:prstGeom>
          <a:solidFill>
            <a:srgbClr val="D9F0EC"/>
          </a:solidFill>
          <a:ln cap="flat" cmpd="sng" w="15875">
            <a:solidFill>
              <a:srgbClr val="3C9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kube-ovn-dra-driver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kubelet plugin: waits for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allocated=true, reads IP/MAC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NRI hook: veth into the pod,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host end on br-int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7223760" y="4023360"/>
            <a:ext cx="2011680" cy="1234440"/>
          </a:xfrm>
          <a:prstGeom prst="roundRect">
            <a:avLst>
              <a:gd fmla="val 5926" name="adj"/>
            </a:avLst>
          </a:prstGeom>
          <a:solidFill>
            <a:srgbClr val="D9F0EC"/>
          </a:solidFill>
          <a:ln cap="flat" cmpd="sng" w="15875">
            <a:solidFill>
              <a:srgbClr val="3C9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Pod netns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eth0 primary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net1 DRA NIC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9601200" y="4023360"/>
            <a:ext cx="1874520" cy="1234440"/>
          </a:xfrm>
          <a:prstGeom prst="roundRect">
            <a:avLst>
              <a:gd fmla="val 5926" name="adj"/>
            </a:avLst>
          </a:prstGeom>
          <a:solidFill>
            <a:srgbClr val="D9F0EC"/>
          </a:solidFill>
          <a:ln cap="flat" cmpd="sng" w="15875">
            <a:solidFill>
              <a:srgbClr val="3C9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OVS br-int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iface-id 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ovn-controller binds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18"/>
          <p:cNvCxnSpPr/>
          <p:nvPr/>
        </p:nvCxnSpPr>
        <p:spPr>
          <a:xfrm>
            <a:off x="2834640" y="4480560"/>
            <a:ext cx="548640" cy="0"/>
          </a:xfrm>
          <a:prstGeom prst="straightConnector1">
            <a:avLst/>
          </a:prstGeom>
          <a:noFill/>
          <a:ln cap="flat" cmpd="sng" w="22225">
            <a:solidFill>
              <a:srgbClr val="1421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7" name="Google Shape;177;p18"/>
          <p:cNvSpPr/>
          <p:nvPr/>
        </p:nvSpPr>
        <p:spPr>
          <a:xfrm>
            <a:off x="2953512" y="4069080"/>
            <a:ext cx="310896" cy="310896"/>
          </a:xfrm>
          <a:prstGeom prst="ellipse">
            <a:avLst/>
          </a:prstGeom>
          <a:solidFill>
            <a:srgbClr val="F2A0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2953512" y="40690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18"/>
          <p:cNvCxnSpPr/>
          <p:nvPr/>
        </p:nvCxnSpPr>
        <p:spPr>
          <a:xfrm>
            <a:off x="2834640" y="5715000"/>
            <a:ext cx="548640" cy="0"/>
          </a:xfrm>
          <a:prstGeom prst="straightConnector1">
            <a:avLst/>
          </a:prstGeom>
          <a:noFill/>
          <a:ln cap="flat" cmpd="sng" w="22225">
            <a:solidFill>
              <a:srgbClr val="1421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0" name="Google Shape;180;p18"/>
          <p:cNvSpPr/>
          <p:nvPr/>
        </p:nvSpPr>
        <p:spPr>
          <a:xfrm>
            <a:off x="2953512" y="5303520"/>
            <a:ext cx="310896" cy="310896"/>
          </a:xfrm>
          <a:prstGeom prst="ellipse">
            <a:avLst/>
          </a:prstGeom>
          <a:solidFill>
            <a:srgbClr val="F2A0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2953512" y="53035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18"/>
          <p:cNvCxnSpPr/>
          <p:nvPr/>
        </p:nvCxnSpPr>
        <p:spPr>
          <a:xfrm>
            <a:off x="6583680" y="4636008"/>
            <a:ext cx="640080" cy="0"/>
          </a:xfrm>
          <a:prstGeom prst="straightConnector1">
            <a:avLst/>
          </a:prstGeom>
          <a:noFill/>
          <a:ln cap="flat" cmpd="sng" w="22225">
            <a:solidFill>
              <a:srgbClr val="1421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" name="Google Shape;183;p18"/>
          <p:cNvSpPr/>
          <p:nvPr/>
        </p:nvSpPr>
        <p:spPr>
          <a:xfrm>
            <a:off x="6748272" y="4224528"/>
            <a:ext cx="310896" cy="310896"/>
          </a:xfrm>
          <a:prstGeom prst="ellipse">
            <a:avLst/>
          </a:prstGeom>
          <a:solidFill>
            <a:srgbClr val="F2A0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748272" y="422452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18"/>
          <p:cNvCxnSpPr/>
          <p:nvPr/>
        </p:nvCxnSpPr>
        <p:spPr>
          <a:xfrm>
            <a:off x="9235440" y="4636008"/>
            <a:ext cx="365760" cy="0"/>
          </a:xfrm>
          <a:prstGeom prst="straightConnector1">
            <a:avLst/>
          </a:prstGeom>
          <a:noFill/>
          <a:ln cap="flat" cmpd="sng" w="22225">
            <a:solidFill>
              <a:srgbClr val="1421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18"/>
          <p:cNvSpPr/>
          <p:nvPr/>
        </p:nvSpPr>
        <p:spPr>
          <a:xfrm>
            <a:off x="9262872" y="4224528"/>
            <a:ext cx="310896" cy="310896"/>
          </a:xfrm>
          <a:prstGeom prst="ellipse">
            <a:avLst/>
          </a:prstGeom>
          <a:solidFill>
            <a:srgbClr val="F2A0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262872" y="422452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18"/>
          <p:cNvCxnSpPr/>
          <p:nvPr/>
        </p:nvCxnSpPr>
        <p:spPr>
          <a:xfrm flipH="1">
            <a:off x="5394960" y="3063240"/>
            <a:ext cx="3122676" cy="960120"/>
          </a:xfrm>
          <a:prstGeom prst="straightConnector1">
            <a:avLst/>
          </a:prstGeom>
          <a:noFill/>
          <a:ln cap="flat" cmpd="sng" w="22225">
            <a:solidFill>
              <a:srgbClr val="5B7FA6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89" name="Google Shape;189;p18"/>
          <p:cNvSpPr txBox="1"/>
          <p:nvPr/>
        </p:nvSpPr>
        <p:spPr>
          <a:xfrm>
            <a:off x="6270498" y="331012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B7FA6"/>
                </a:solidFill>
                <a:latin typeface="Courier New"/>
                <a:ea typeface="Courier New"/>
                <a:cs typeface="Courier New"/>
                <a:sym typeface="Courier New"/>
              </a:rPr>
              <a:t>allocated=true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>
            <p:ph idx="4294967295" type="sldNum"/>
          </p:nvPr>
        </p:nvSpPr>
        <p:spPr>
          <a:xfrm>
            <a:off x="104241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548640" y="320040"/>
            <a:ext cx="9235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VMs: from tap to domain</a:t>
            </a:r>
            <a:endParaRPr sz="3200"/>
          </a:p>
        </p:txBody>
      </p:sp>
      <p:sp>
        <p:nvSpPr>
          <p:cNvPr id="197" name="Google Shape;197;p19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For VMs the driver also builds the bridge, the tap and a small DHCP server. The sidecar adds the tap to the VM.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457200" y="1463040"/>
            <a:ext cx="11274552" cy="1965960"/>
          </a:xfrm>
          <a:prstGeom prst="roundRect">
            <a:avLst>
              <a:gd fmla="val 3721" name="adj"/>
            </a:avLst>
          </a:prstGeom>
          <a:solidFill>
            <a:srgbClr val="F3F7FB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594360" y="149961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CONTROL PLANE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457200" y="3566160"/>
            <a:ext cx="11274552" cy="2743200"/>
          </a:xfrm>
          <a:prstGeom prst="roundRect">
            <a:avLst>
              <a:gd fmla="val 2667" name="adj"/>
            </a:avLst>
          </a:prstGeom>
          <a:solidFill>
            <a:srgbClr val="F3F9F7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594360" y="360273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NODE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731520" y="1828800"/>
            <a:ext cx="1737360" cy="1234440"/>
          </a:xfrm>
          <a:prstGeom prst="roundRect">
            <a:avLst>
              <a:gd fmla="val 5926" name="adj"/>
            </a:avLst>
          </a:prstGeom>
          <a:solidFill>
            <a:srgbClr val="DCE8F5">
              <a:alpha val="20000"/>
            </a:srgbClr>
          </a:solidFill>
          <a:ln cap="flat" cmpd="sng" w="15875">
            <a:solidFill>
              <a:srgbClr val="5B7FA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publisher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one pool per subnet,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free IPs as capacity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2761488" y="1828800"/>
            <a:ext cx="1874520" cy="1234440"/>
          </a:xfrm>
          <a:prstGeom prst="roundRect">
            <a:avLst>
              <a:gd fmla="val 5926" name="adj"/>
            </a:avLst>
          </a:prstGeom>
          <a:solidFill>
            <a:srgbClr val="DCE8F5">
              <a:alpha val="20000"/>
            </a:srgbClr>
          </a:solidFill>
          <a:ln cap="flat" cmpd="sng" w="15875">
            <a:solidFill>
              <a:srgbClr val="5B7FA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Pod / VM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+ ResourceClaim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subnetName, interfaceName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056632" y="1828800"/>
            <a:ext cx="1874520" cy="1234440"/>
          </a:xfrm>
          <a:prstGeom prst="roundRect">
            <a:avLst>
              <a:gd fmla="val 5926" name="adj"/>
            </a:avLst>
          </a:prstGeom>
          <a:solidFill>
            <a:srgbClr val="DCE8F5">
              <a:alpha val="20000"/>
            </a:srgbClr>
          </a:solidFill>
          <a:ln cap="flat" cmpd="sng" w="15875">
            <a:solidFill>
              <a:srgbClr val="5B7FA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kube-scheduler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allocates a device,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binds the pod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7351776" y="1828800"/>
            <a:ext cx="2331720" cy="1234440"/>
          </a:xfrm>
          <a:prstGeom prst="roundRect">
            <a:avLst>
              <a:gd fmla="val 5926" name="adj"/>
            </a:avLst>
          </a:prstGeom>
          <a:solidFill>
            <a:srgbClr val="DCE8F5">
              <a:alpha val="20000"/>
            </a:srgbClr>
          </a:solidFill>
          <a:ln cap="flat" cmpd="sng" w="15875">
            <a:solidFill>
              <a:srgbClr val="5B7FA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kube-ovn-controller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IPAM, logical port, IP CR,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annotations allocated=true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10104120" y="1828800"/>
            <a:ext cx="1371600" cy="1234440"/>
          </a:xfrm>
          <a:prstGeom prst="roundRect">
            <a:avLst>
              <a:gd fmla="val 5926" name="adj"/>
            </a:avLst>
          </a:prstGeom>
          <a:solidFill>
            <a:srgbClr val="DCE8F5">
              <a:alpha val="20000"/>
            </a:srgbClr>
          </a:solidFill>
          <a:ln cap="flat" cmpd="sng" w="15875">
            <a:solidFill>
              <a:srgbClr val="5B7FA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OVN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logical switch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9"/>
          <p:cNvCxnSpPr/>
          <p:nvPr/>
        </p:nvCxnSpPr>
        <p:spPr>
          <a:xfrm>
            <a:off x="4636008" y="2441448"/>
            <a:ext cx="420624" cy="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" name="Google Shape;208;p19"/>
          <p:cNvSpPr/>
          <p:nvPr/>
        </p:nvSpPr>
        <p:spPr>
          <a:xfrm>
            <a:off x="4690872" y="1947672"/>
            <a:ext cx="310896" cy="310896"/>
          </a:xfrm>
          <a:prstGeom prst="ellipse">
            <a:avLst/>
          </a:prstGeom>
          <a:solidFill>
            <a:srgbClr val="F2A03D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4690872" y="1947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19"/>
          <p:cNvCxnSpPr/>
          <p:nvPr/>
        </p:nvCxnSpPr>
        <p:spPr>
          <a:xfrm>
            <a:off x="6931152" y="2441448"/>
            <a:ext cx="420624" cy="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" name="Google Shape;211;p19"/>
          <p:cNvSpPr/>
          <p:nvPr/>
        </p:nvSpPr>
        <p:spPr>
          <a:xfrm>
            <a:off x="6986016" y="1947672"/>
            <a:ext cx="310896" cy="310896"/>
          </a:xfrm>
          <a:prstGeom prst="ellipse">
            <a:avLst/>
          </a:prstGeom>
          <a:solidFill>
            <a:srgbClr val="F2A03D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986016" y="1947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9"/>
          <p:cNvCxnSpPr/>
          <p:nvPr/>
        </p:nvCxnSpPr>
        <p:spPr>
          <a:xfrm>
            <a:off x="9683496" y="2441448"/>
            <a:ext cx="420624" cy="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" name="Google Shape;214;p19"/>
          <p:cNvSpPr/>
          <p:nvPr/>
        </p:nvSpPr>
        <p:spPr>
          <a:xfrm>
            <a:off x="9738360" y="1947672"/>
            <a:ext cx="310896" cy="310896"/>
          </a:xfrm>
          <a:prstGeom prst="ellipse">
            <a:avLst/>
          </a:prstGeom>
          <a:solidFill>
            <a:srgbClr val="F2A03D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9738360" y="1947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9"/>
          <p:cNvCxnSpPr/>
          <p:nvPr/>
        </p:nvCxnSpPr>
        <p:spPr>
          <a:xfrm>
            <a:off x="1600200" y="3063240"/>
            <a:ext cx="0" cy="18288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19"/>
          <p:cNvCxnSpPr/>
          <p:nvPr/>
        </p:nvCxnSpPr>
        <p:spPr>
          <a:xfrm>
            <a:off x="1600200" y="3246120"/>
            <a:ext cx="4393692" cy="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19"/>
          <p:cNvCxnSpPr/>
          <p:nvPr/>
        </p:nvCxnSpPr>
        <p:spPr>
          <a:xfrm rot="10800000">
            <a:off x="5993892" y="3063240"/>
            <a:ext cx="0" cy="18288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" name="Google Shape;219;p19"/>
          <p:cNvSpPr/>
          <p:nvPr/>
        </p:nvSpPr>
        <p:spPr>
          <a:xfrm>
            <a:off x="3641598" y="3090672"/>
            <a:ext cx="310896" cy="310896"/>
          </a:xfrm>
          <a:prstGeom prst="ellipse">
            <a:avLst/>
          </a:prstGeom>
          <a:solidFill>
            <a:srgbClr val="F2A03D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3641598" y="3090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731520" y="4023360"/>
            <a:ext cx="2103120" cy="914400"/>
          </a:xfrm>
          <a:prstGeom prst="roundRect">
            <a:avLst>
              <a:gd fmla="val 8000" name="adj"/>
            </a:avLst>
          </a:prstGeom>
          <a:solidFill>
            <a:srgbClr val="D9F0EC">
              <a:alpha val="20000"/>
            </a:srgbClr>
          </a:solidFill>
          <a:ln cap="flat" cmpd="sng" w="15875">
            <a:solidFill>
              <a:srgbClr val="3C9A8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kubelet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NodePrepareResources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731520" y="5257800"/>
            <a:ext cx="2103120" cy="914400"/>
          </a:xfrm>
          <a:prstGeom prst="roundRect">
            <a:avLst>
              <a:gd fmla="val 8000" name="adj"/>
            </a:avLst>
          </a:prstGeom>
          <a:solidFill>
            <a:srgbClr val="D9F0EC">
              <a:alpha val="20000"/>
            </a:srgbClr>
          </a:solidFill>
          <a:ln cap="flat" cmpd="sng" w="15875">
            <a:solidFill>
              <a:srgbClr val="3C9A8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containerd + NRI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RunPodSandbox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3383280" y="4023360"/>
            <a:ext cx="3200400" cy="2148840"/>
          </a:xfrm>
          <a:prstGeom prst="roundRect">
            <a:avLst>
              <a:gd fmla="val 3404" name="adj"/>
            </a:avLst>
          </a:prstGeom>
          <a:solidFill>
            <a:srgbClr val="D9F0EC">
              <a:alpha val="20000"/>
            </a:srgbClr>
          </a:solidFill>
          <a:ln cap="flat" cmpd="sng" w="15875">
            <a:solidFill>
              <a:srgbClr val="3C9A8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kube-ovn-dra-driver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kubelet plugin: waits for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allocated=true, reads IP/MAC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NRI hook: veth into the pod,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host end on br-int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7223760" y="4023360"/>
            <a:ext cx="2011680" cy="1234440"/>
          </a:xfrm>
          <a:prstGeom prst="roundRect">
            <a:avLst>
              <a:gd fmla="val 5926" name="adj"/>
            </a:avLst>
          </a:prstGeom>
          <a:solidFill>
            <a:srgbClr val="D9F0EC">
              <a:alpha val="20000"/>
            </a:srgbClr>
          </a:solidFill>
          <a:ln cap="flat" cmpd="sng" w="15875">
            <a:solidFill>
              <a:srgbClr val="3C9A8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Pod netns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eth0 primary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net1 DRA NIC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9601200" y="4023360"/>
            <a:ext cx="1874520" cy="1234440"/>
          </a:xfrm>
          <a:prstGeom prst="roundRect">
            <a:avLst>
              <a:gd fmla="val 5926" name="adj"/>
            </a:avLst>
          </a:prstGeom>
          <a:solidFill>
            <a:srgbClr val="D9F0EC">
              <a:alpha val="20000"/>
            </a:srgbClr>
          </a:solidFill>
          <a:ln cap="flat" cmpd="sng" w="15875">
            <a:solidFill>
              <a:srgbClr val="3C9A8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OVS br-int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iface-id 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ovn-controller binds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19"/>
          <p:cNvCxnSpPr/>
          <p:nvPr/>
        </p:nvCxnSpPr>
        <p:spPr>
          <a:xfrm>
            <a:off x="2834640" y="4480560"/>
            <a:ext cx="548640" cy="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7" name="Google Shape;227;p19"/>
          <p:cNvSpPr/>
          <p:nvPr/>
        </p:nvSpPr>
        <p:spPr>
          <a:xfrm>
            <a:off x="2953512" y="4069080"/>
            <a:ext cx="310896" cy="310896"/>
          </a:xfrm>
          <a:prstGeom prst="ellipse">
            <a:avLst/>
          </a:prstGeom>
          <a:solidFill>
            <a:srgbClr val="F2A03D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2953512" y="40690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19"/>
          <p:cNvCxnSpPr/>
          <p:nvPr/>
        </p:nvCxnSpPr>
        <p:spPr>
          <a:xfrm>
            <a:off x="2834640" y="5715000"/>
            <a:ext cx="548640" cy="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0" name="Google Shape;230;p19"/>
          <p:cNvSpPr/>
          <p:nvPr/>
        </p:nvSpPr>
        <p:spPr>
          <a:xfrm>
            <a:off x="2953512" y="5303520"/>
            <a:ext cx="310896" cy="310896"/>
          </a:xfrm>
          <a:prstGeom prst="ellipse">
            <a:avLst/>
          </a:prstGeom>
          <a:solidFill>
            <a:srgbClr val="F2A03D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2953512" y="53035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9"/>
          <p:cNvCxnSpPr/>
          <p:nvPr/>
        </p:nvCxnSpPr>
        <p:spPr>
          <a:xfrm>
            <a:off x="6583680" y="4636008"/>
            <a:ext cx="640080" cy="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3" name="Google Shape;233;p19"/>
          <p:cNvSpPr/>
          <p:nvPr/>
        </p:nvSpPr>
        <p:spPr>
          <a:xfrm>
            <a:off x="6748272" y="4224528"/>
            <a:ext cx="310896" cy="310896"/>
          </a:xfrm>
          <a:prstGeom prst="ellipse">
            <a:avLst/>
          </a:prstGeom>
          <a:solidFill>
            <a:srgbClr val="F2A03D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6748272" y="422452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19"/>
          <p:cNvCxnSpPr/>
          <p:nvPr/>
        </p:nvCxnSpPr>
        <p:spPr>
          <a:xfrm>
            <a:off x="9235440" y="4636008"/>
            <a:ext cx="365760" cy="0"/>
          </a:xfrm>
          <a:prstGeom prst="straightConnector1">
            <a:avLst/>
          </a:prstGeom>
          <a:noFill/>
          <a:ln cap="flat" cmpd="sng" w="22225">
            <a:solidFill>
              <a:srgbClr val="14213D">
                <a:alpha val="20000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6" name="Google Shape;236;p19"/>
          <p:cNvSpPr/>
          <p:nvPr/>
        </p:nvSpPr>
        <p:spPr>
          <a:xfrm>
            <a:off x="9262872" y="4224528"/>
            <a:ext cx="310896" cy="310896"/>
          </a:xfrm>
          <a:prstGeom prst="ellipse">
            <a:avLst/>
          </a:prstGeom>
          <a:solidFill>
            <a:srgbClr val="F2A03D">
              <a:alpha val="20000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9262872" y="422452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9"/>
          <p:cNvCxnSpPr/>
          <p:nvPr/>
        </p:nvCxnSpPr>
        <p:spPr>
          <a:xfrm flipH="1">
            <a:off x="5394960" y="3063240"/>
            <a:ext cx="3122676" cy="960120"/>
          </a:xfrm>
          <a:prstGeom prst="straightConnector1">
            <a:avLst/>
          </a:prstGeom>
          <a:noFill/>
          <a:ln cap="flat" cmpd="sng" w="22225">
            <a:solidFill>
              <a:srgbClr val="5B7FA6">
                <a:alpha val="20000"/>
              </a:srgbClr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39" name="Google Shape;239;p19"/>
          <p:cNvSpPr txBox="1"/>
          <p:nvPr/>
        </p:nvSpPr>
        <p:spPr>
          <a:xfrm>
            <a:off x="6270498" y="331012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5B7FA6"/>
                </a:solidFill>
                <a:latin typeface="Courier New"/>
                <a:ea typeface="Courier New"/>
                <a:cs typeface="Courier New"/>
                <a:sym typeface="Courier New"/>
              </a:rPr>
              <a:t>allocated=true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7223760" y="5440680"/>
            <a:ext cx="4251960" cy="731520"/>
          </a:xfrm>
          <a:prstGeom prst="roundRect">
            <a:avLst>
              <a:gd fmla="val 10000" name="adj"/>
            </a:avLst>
          </a:prstGeom>
          <a:solidFill>
            <a:srgbClr val="FCE9CC"/>
          </a:solidFill>
          <a:ln cap="flat" cmpd="sng" w="15875">
            <a:solidFill>
              <a:srgbClr val="C98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KubeVirt binding plugin (VMs only)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adds the tap to the libvirt domain; guest gets IPv4 via DHCP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19"/>
          <p:cNvCxnSpPr/>
          <p:nvPr/>
        </p:nvCxnSpPr>
        <p:spPr>
          <a:xfrm>
            <a:off x="6583680" y="5852160"/>
            <a:ext cx="640080" cy="0"/>
          </a:xfrm>
          <a:prstGeom prst="straightConnector1">
            <a:avLst/>
          </a:prstGeom>
          <a:noFill/>
          <a:ln cap="flat" cmpd="sng" w="22225">
            <a:solidFill>
              <a:srgbClr val="1421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" name="Google Shape;242;p19"/>
          <p:cNvSpPr/>
          <p:nvPr/>
        </p:nvSpPr>
        <p:spPr>
          <a:xfrm>
            <a:off x="6748272" y="5440680"/>
            <a:ext cx="310896" cy="310896"/>
          </a:xfrm>
          <a:prstGeom prst="ellipse">
            <a:avLst/>
          </a:prstGeom>
          <a:solidFill>
            <a:srgbClr val="F2A0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6748272" y="54406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 txBox="1"/>
          <p:nvPr>
            <p:ph idx="4294967295" type="sldNum"/>
          </p:nvPr>
        </p:nvSpPr>
        <p:spPr>
          <a:xfrm>
            <a:off x="104241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"/>
          <p:cNvSpPr txBox="1"/>
          <p:nvPr>
            <p:ph type="title"/>
          </p:nvPr>
        </p:nvSpPr>
        <p:spPr>
          <a:xfrm>
            <a:off x="548640" y="320040"/>
            <a:ext cx="9235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Subnets become devices</a:t>
            </a:r>
            <a:endParaRPr sz="3200"/>
          </a:p>
        </p:txBody>
      </p:sp>
      <p:sp>
        <p:nvSpPr>
          <p:cNvPr id="251" name="Google Shape;251;p20"/>
          <p:cNvSpPr/>
          <p:nvPr/>
        </p:nvSpPr>
        <p:spPr>
          <a:xfrm>
            <a:off x="548640" y="1371600"/>
            <a:ext cx="4480500" cy="2926200"/>
          </a:xfrm>
          <a:prstGeom prst="roundRect">
            <a:avLst>
              <a:gd fmla="val 3077" name="adj"/>
            </a:avLst>
          </a:prstGeom>
          <a:solidFill>
            <a:srgbClr val="1B2A47"/>
          </a:solidFill>
          <a:ln cap="flat" cmpd="sng" w="12700">
            <a:solidFill>
              <a:srgbClr val="1B2A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777240" y="1481328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FD8DD"/>
                </a:solidFill>
                <a:latin typeface="Calibri"/>
                <a:ea typeface="Calibri"/>
                <a:cs typeface="Calibri"/>
                <a:sym typeface="Calibri"/>
              </a:rPr>
              <a:t>kube-ovn Subnet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777240" y="1874520"/>
            <a:ext cx="40233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kind: Subnet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metadata: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  name: ovn-subnet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spec: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  cidrBlock: 10.200.0.0/24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  vpc: ovn-cluster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20"/>
          <p:cNvCxnSpPr/>
          <p:nvPr/>
        </p:nvCxnSpPr>
        <p:spPr>
          <a:xfrm>
            <a:off x="5166360" y="2880360"/>
            <a:ext cx="822900" cy="0"/>
          </a:xfrm>
          <a:prstGeom prst="straightConnector1">
            <a:avLst/>
          </a:prstGeom>
          <a:noFill/>
          <a:ln cap="flat" cmpd="sng" w="38100">
            <a:solidFill>
              <a:srgbClr val="F2A0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5" name="Google Shape;255;p20"/>
          <p:cNvSpPr txBox="1"/>
          <p:nvPr/>
        </p:nvSpPr>
        <p:spPr>
          <a:xfrm>
            <a:off x="5120640" y="25146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published 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6126480" y="1371600"/>
            <a:ext cx="5486400" cy="2926200"/>
          </a:xfrm>
          <a:prstGeom prst="roundRect">
            <a:avLst>
              <a:gd fmla="val 3077" name="adj"/>
            </a:avLst>
          </a:prstGeom>
          <a:solidFill>
            <a:srgbClr val="1B2A47"/>
          </a:solidFill>
          <a:ln cap="flat" cmpd="sng" w="12700">
            <a:solidFill>
              <a:srgbClr val="1B2A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6355080" y="1481328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D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FD8DD"/>
                </a:solidFill>
                <a:latin typeface="Calibri"/>
                <a:ea typeface="Calibri"/>
                <a:cs typeface="Calibri"/>
                <a:sym typeface="Calibri"/>
              </a:rPr>
              <a:t>ResourceSlice (one pool per subnet)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6355080" y="1874520"/>
            <a:ext cx="50292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kind: ResourceSlice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metadata: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  name: nic.kubeovn.io-x7k2p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spec: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  driver: nic.kubeovn.io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  pool: {name: ovn-subnet}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  allNodes: 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  devices: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  - name: subnet-ovn-subnet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    allowMultipleAllocations: 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    attributes: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      nic.kubeovn.io/subnetName: {string: ovn-subnet}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    capacity: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7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EF7"/>
                </a:solidFill>
                <a:latin typeface="Courier New"/>
                <a:ea typeface="Courier New"/>
                <a:cs typeface="Courier New"/>
                <a:sym typeface="Courier New"/>
              </a:rPr>
              <a:t>      nic.kubeovn.io/ipv4: {value: "250"}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548640" y="4389120"/>
            <a:ext cx="1106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One pool per subnet. Overlay: all nodes. VLAN: only the nodes where its provider network is ready.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548640" y="470916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A claim selects it with CEL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0E9AA7"/>
                </a:solidFill>
                <a:latin typeface="Courier New"/>
                <a:ea typeface="Courier New"/>
                <a:cs typeface="Courier New"/>
                <a:sym typeface="Courier New"/>
              </a:rPr>
              <a:t>device.attributes['nic.kubeovn.io']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0E9AA7"/>
                </a:solidFill>
                <a:latin typeface="Courier New"/>
                <a:ea typeface="Courier New"/>
                <a:cs typeface="Courier New"/>
                <a:sym typeface="Courier New"/>
              </a:rPr>
              <a:t>  .subnetName.stringValue == 'ovn-subnet'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548640" y="5440680"/>
            <a:ext cx="11064300" cy="868800"/>
          </a:xfrm>
          <a:prstGeom prst="roundRect">
            <a:avLst>
              <a:gd fmla="val 9524" name="adj"/>
            </a:avLst>
          </a:prstGeom>
          <a:solidFill>
            <a:srgbClr val="FFF4E0"/>
          </a:solidFill>
          <a:ln cap="flat" cmpd="sng" w="15875">
            <a:solidFill>
              <a:srgbClr val="F2A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822960" y="5440680"/>
            <a:ext cx="10515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A subnet is a shared IP pool, but DRA allocates exclusively by default. The 2nd pod stays Pending until the device sets </a:t>
            </a:r>
            <a:r>
              <a:rPr b="0" i="0" lang="en-US" sz="1400" u="none" cap="none" strike="noStrike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AllowMultipleAllocations: true</a:t>
            </a:r>
            <a:r>
              <a:rPr b="0" i="0" lang="en-US" sz="15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 (DRAConsumableCapacity: alpha in 1.35, beta from 1.36). The free addresses are also published as capacity, so a full pool is refused at scheduling time.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 txBox="1"/>
          <p:nvPr>
            <p:ph idx="4294967295" type="sldNum"/>
          </p:nvPr>
        </p:nvSpPr>
        <p:spPr>
          <a:xfrm>
            <a:off x="10424160" y="644652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 txBox="1"/>
          <p:nvPr>
            <p:ph type="title"/>
          </p:nvPr>
        </p:nvSpPr>
        <p:spPr>
          <a:xfrm>
            <a:off x="548640" y="320040"/>
            <a:ext cx="9235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What live migration needs</a:t>
            </a:r>
            <a:endParaRPr sz="3200"/>
          </a:p>
        </p:txBody>
      </p:sp>
      <p:sp>
        <p:nvSpPr>
          <p:cNvPr id="270" name="Google Shape;270;p21"/>
          <p:cNvSpPr txBox="1"/>
          <p:nvPr>
            <p:ph idx="4294967295" type="sldNum"/>
          </p:nvPr>
        </p:nvSpPr>
        <p:spPr>
          <a:xfrm>
            <a:off x="10424160" y="644652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548640" y="1024128"/>
            <a:ext cx="1106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During the migration a VM has two launcher pods. Both need the same NIC.</a:t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1554480" y="1554480"/>
            <a:ext cx="3749100" cy="868800"/>
          </a:xfrm>
          <a:prstGeom prst="roundRect">
            <a:avLst>
              <a:gd fmla="val 5926" name="adj"/>
            </a:avLst>
          </a:prstGeom>
          <a:solidFill>
            <a:srgbClr val="DCE8F5"/>
          </a:solidFill>
          <a:ln cap="flat" cmpd="sng" w="15875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ResourceClaim cap-demo-vm-2-nic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named, allocated once: 172.31.0.252</a:t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457200" y="2971800"/>
            <a:ext cx="2880300" cy="2971800"/>
          </a:xfrm>
          <a:prstGeom prst="roundRect">
            <a:avLst>
              <a:gd fmla="val 3721" name="adj"/>
            </a:avLst>
          </a:prstGeom>
          <a:solidFill>
            <a:srgbClr val="F3F7FB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640080" y="3200400"/>
            <a:ext cx="2514600" cy="822900"/>
          </a:xfrm>
          <a:prstGeom prst="roundRect">
            <a:avLst>
              <a:gd fmla="val 5926" name="adj"/>
            </a:avLst>
          </a:prstGeom>
          <a:solidFill>
            <a:srgbClr val="DCE8F5"/>
          </a:solidFill>
          <a:ln cap="flat" cmpd="sng" w="15875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source launcher pod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VM running</a:t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640080" y="4389120"/>
            <a:ext cx="2514600" cy="1097400"/>
          </a:xfrm>
          <a:prstGeom prst="roundRect">
            <a:avLst>
              <a:gd fmla="val 5926" name="adj"/>
            </a:avLst>
          </a:prstGeom>
          <a:solidFill>
            <a:srgbClr val="D9F0EC"/>
          </a:solidFill>
          <a:ln cap="flat" cmpd="sng" w="15875">
            <a:solidFill>
              <a:srgbClr val="3C9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kube-ovn-dra-driver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prepares the claim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for the pod on this node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640080" y="5577840"/>
            <a:ext cx="251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WORKER · SOURCE</a:t>
            </a:r>
            <a:endParaRPr/>
          </a:p>
        </p:txBody>
      </p:sp>
      <p:cxnSp>
        <p:nvCxnSpPr>
          <p:cNvPr id="277" name="Google Shape;277;p21"/>
          <p:cNvCxnSpPr/>
          <p:nvPr/>
        </p:nvCxnSpPr>
        <p:spPr>
          <a:xfrm rot="10800000">
            <a:off x="1897380" y="4023420"/>
            <a:ext cx="0" cy="365700"/>
          </a:xfrm>
          <a:prstGeom prst="straightConnector1">
            <a:avLst/>
          </a:prstGeom>
          <a:noFill/>
          <a:ln cap="flat" cmpd="sng" w="22225">
            <a:solidFill>
              <a:srgbClr val="3C9A8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8" name="Google Shape;278;p21"/>
          <p:cNvSpPr/>
          <p:nvPr/>
        </p:nvSpPr>
        <p:spPr>
          <a:xfrm>
            <a:off x="3520440" y="2971800"/>
            <a:ext cx="2880300" cy="2971800"/>
          </a:xfrm>
          <a:prstGeom prst="roundRect">
            <a:avLst>
              <a:gd fmla="val 3721" name="adj"/>
            </a:avLst>
          </a:prstGeom>
          <a:solidFill>
            <a:srgbClr val="F3F7FB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3703320" y="3200400"/>
            <a:ext cx="2514600" cy="822900"/>
          </a:xfrm>
          <a:prstGeom prst="roundRect">
            <a:avLst>
              <a:gd fmla="val 5926" name="adj"/>
            </a:avLst>
          </a:prstGeom>
          <a:solidFill>
            <a:srgbClr val="DCE8F5"/>
          </a:solidFill>
          <a:ln cap="flat" cmpd="sng" w="15875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target launcher pod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VM arrives</a:t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3703320" y="4389120"/>
            <a:ext cx="2514600" cy="1097400"/>
          </a:xfrm>
          <a:prstGeom prst="roundRect">
            <a:avLst>
              <a:gd fmla="val 5926" name="adj"/>
            </a:avLst>
          </a:prstGeom>
          <a:solidFill>
            <a:srgbClr val="D9F0EC"/>
          </a:solidFill>
          <a:ln cap="flat" cmpd="sng" w="15875">
            <a:solidFill>
              <a:srgbClr val="3C9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kube-ovn-dra-driver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prepares the claim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for the pod on this node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3703320" y="5577840"/>
            <a:ext cx="251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WORKER2 · TARGET</a:t>
            </a:r>
            <a:endParaRPr/>
          </a:p>
        </p:txBody>
      </p:sp>
      <p:cxnSp>
        <p:nvCxnSpPr>
          <p:cNvPr id="282" name="Google Shape;282;p21"/>
          <p:cNvCxnSpPr/>
          <p:nvPr/>
        </p:nvCxnSpPr>
        <p:spPr>
          <a:xfrm rot="10800000">
            <a:off x="4960620" y="4023420"/>
            <a:ext cx="0" cy="365700"/>
          </a:xfrm>
          <a:prstGeom prst="straightConnector1">
            <a:avLst/>
          </a:prstGeom>
          <a:noFill/>
          <a:ln cap="flat" cmpd="sng" w="22225">
            <a:solidFill>
              <a:srgbClr val="3C9A8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3" name="Google Shape;283;p21"/>
          <p:cNvCxnSpPr/>
          <p:nvPr/>
        </p:nvCxnSpPr>
        <p:spPr>
          <a:xfrm flipH="1">
            <a:off x="1897500" y="2423160"/>
            <a:ext cx="845700" cy="777300"/>
          </a:xfrm>
          <a:prstGeom prst="straightConnector1">
            <a:avLst/>
          </a:prstGeom>
          <a:noFill/>
          <a:ln cap="flat" cmpd="sng" w="22225">
            <a:solidFill>
              <a:srgbClr val="5B7FA6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84" name="Google Shape;284;p21"/>
          <p:cNvCxnSpPr/>
          <p:nvPr/>
        </p:nvCxnSpPr>
        <p:spPr>
          <a:xfrm>
            <a:off x="4114800" y="2423160"/>
            <a:ext cx="845700" cy="777300"/>
          </a:xfrm>
          <a:prstGeom prst="straightConnector1">
            <a:avLst/>
          </a:prstGeom>
          <a:noFill/>
          <a:ln cap="flat" cmpd="sng" w="22225">
            <a:solidFill>
              <a:srgbClr val="5B7FA6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85" name="Google Shape;285;p21"/>
          <p:cNvSpPr txBox="1"/>
          <p:nvPr/>
        </p:nvSpPr>
        <p:spPr>
          <a:xfrm>
            <a:off x="2743200" y="2606040"/>
            <a:ext cx="137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B7FA6"/>
                </a:solidFill>
                <a:latin typeface="Courier New"/>
                <a:ea typeface="Courier New"/>
                <a:cs typeface="Courier New"/>
                <a:sym typeface="Courier New"/>
              </a:rPr>
              <a:t>reservedFor</a:t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6858000" y="1572768"/>
            <a:ext cx="365700" cy="365700"/>
          </a:xfrm>
          <a:prstGeom prst="ellipse">
            <a:avLst/>
          </a:prstGeom>
          <a:solidFill>
            <a:srgbClr val="F2A0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7406640" y="1554480"/>
            <a:ext cx="4328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A named claim per VM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Source and target pod share it, so the target needs no second address. With a claim template the target pod gets its own claim, and a full pool blocks the migration.</a:t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6858000" y="3035808"/>
            <a:ext cx="365700" cy="365700"/>
          </a:xfrm>
          <a:prstGeom prst="ellipse">
            <a:avLst/>
          </a:prstGeom>
          <a:solidFill>
            <a:srgbClr val="F2A0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7406640" y="3017520"/>
            <a:ext cx="4328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The driver prepares it per node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The shared claim lists both pods. Each node prepares it for its own pod. Before the fix the target node took the source pod, and the migration hung.</a:t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6858000" y="4498848"/>
            <a:ext cx="365700" cy="365700"/>
          </a:xfrm>
          <a:prstGeom prst="ellipse">
            <a:avLst/>
          </a:prstGeom>
          <a:solidFill>
            <a:srgbClr val="F2A0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7406640" y="4480560"/>
            <a:ext cx="4328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A CNI that keeps the address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kube-ovn keeps a VM's IP and MAC across pods: the logical port is named after the VM. Not every CNI can do that.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 txBox="1"/>
          <p:nvPr>
            <p:ph type="title"/>
          </p:nvPr>
        </p:nvSpPr>
        <p:spPr>
          <a:xfrm>
            <a:off x="548640" y="320040"/>
            <a:ext cx="9235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Demo: two NICs, one VM</a:t>
            </a:r>
            <a:endParaRPr sz="3200"/>
          </a:p>
        </p:txBody>
      </p:sp>
      <p:sp>
        <p:nvSpPr>
          <p:cNvPr id="298" name="Google Shape;298;p22"/>
          <p:cNvSpPr/>
          <p:nvPr/>
        </p:nvSpPr>
        <p:spPr>
          <a:xfrm>
            <a:off x="548640" y="1325880"/>
            <a:ext cx="502800" cy="50280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548640" y="132588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1234440" y="1280160"/>
            <a:ext cx="544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make kind-demo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1234440" y="1737360"/>
            <a:ext cx="5440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plus containerlab: a VLAN switch and an FRR gateway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548640" y="2331720"/>
            <a:ext cx="502800" cy="50280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548640" y="233172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1234440" y="2286000"/>
            <a:ext cx="544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resourceslices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1234440" y="2743200"/>
            <a:ext cx="5440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the published devices, one pool per subnet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548640" y="3337560"/>
            <a:ext cx="502800" cy="50280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548640" y="33375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1234440" y="3291840"/>
            <a:ext cx="544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virt ssh ubuntu@vmi/cap-demo-vm-1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1234440" y="3749040"/>
            <a:ext cx="5440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one NIC on the pod network, one on the VLAN underlay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548640" y="55778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No hot-plug: NICs are attached when the sandbox starts.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6949440" y="3459480"/>
            <a:ext cx="1783200" cy="2103000"/>
          </a:xfrm>
          <a:prstGeom prst="roundRect">
            <a:avLst>
              <a:gd fmla="val 5455" name="adj"/>
            </a:avLst>
          </a:prstGeom>
          <a:solidFill>
            <a:srgbClr val="D9F0EC"/>
          </a:solidFill>
          <a:ln cap="flat" cmpd="sng" w="19050">
            <a:solidFill>
              <a:srgbClr val="3C9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6949440" y="3487702"/>
            <a:ext cx="1783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33415C"/>
                </a:solidFill>
                <a:latin typeface="Courier New"/>
                <a:ea typeface="Courier New"/>
                <a:cs typeface="Courier New"/>
                <a:sym typeface="Courier New"/>
              </a:rPr>
              <a:t>cap-demo-vm-1</a:t>
            </a:r>
            <a:endParaRPr b="1" sz="1800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9418320" y="3566160"/>
            <a:ext cx="2377500" cy="777300"/>
          </a:xfrm>
          <a:prstGeom prst="roundRect">
            <a:avLst>
              <a:gd fmla="val 8000" name="adj"/>
            </a:avLst>
          </a:prstGeom>
          <a:solidFill>
            <a:srgbClr val="DCE8F5"/>
          </a:solidFill>
          <a:ln cap="flat" cmpd="sng" w="15875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VLAN underlay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cap-demo (VLAN 900) · DRA NIC</a:t>
            </a:r>
            <a:endParaRPr b="1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9418320" y="4663440"/>
            <a:ext cx="2377500" cy="777300"/>
          </a:xfrm>
          <a:prstGeom prst="roundRect">
            <a:avLst>
              <a:gd fmla="val 8000" name="adj"/>
            </a:avLst>
          </a:prstGeom>
          <a:solidFill>
            <a:srgbClr val="D9F0EC"/>
          </a:solidFill>
          <a:ln cap="flat" cmpd="sng" w="15875">
            <a:solidFill>
              <a:srgbClr val="3C9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OVN overlay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pod network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 txBox="1"/>
          <p:nvPr>
            <p:ph idx="4294967295" type="sldNum"/>
          </p:nvPr>
        </p:nvSpPr>
        <p:spPr>
          <a:xfrm>
            <a:off x="10424160" y="644652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548640" y="4343400"/>
            <a:ext cx="502800" cy="50280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>
            <a:off x="548640" y="434340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1234440" y="4297680"/>
            <a:ext cx="544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ssh ubuntu@&lt;VLAN IP&gt;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1234440" y="4754880"/>
            <a:ext cx="5440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from the kind host, through the FRR gateway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9418320" y="2377440"/>
            <a:ext cx="2377500" cy="868800"/>
          </a:xfrm>
          <a:prstGeom prst="roundRect">
            <a:avLst>
              <a:gd fmla="val 8000" name="adj"/>
            </a:avLst>
          </a:prstGeom>
          <a:solidFill>
            <a:srgbClr val="FDF1DC"/>
          </a:solidFill>
          <a:ln cap="flat" cmpd="sng" w="15875">
            <a:solidFill>
              <a:srgbClr val="C99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containerlab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vlan-switch · FRR gateway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9418320" y="1280160"/>
            <a:ext cx="2377500" cy="731400"/>
          </a:xfrm>
          <a:prstGeom prst="roundRect">
            <a:avLst>
              <a:gd fmla="val 8000" name="adj"/>
            </a:avLst>
          </a:prstGeom>
          <a:solidFill>
            <a:srgbClr val="EEF0F4"/>
          </a:solidFill>
          <a:ln cap="flat" cmpd="sng" w="15875">
            <a:solidFill>
              <a:srgbClr val="8A9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kind host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ssh ubuntu@&lt;VLAN IP&gt;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22"/>
          <p:cNvCxnSpPr>
            <a:endCxn id="313" idx="1"/>
          </p:cNvCxnSpPr>
          <p:nvPr/>
        </p:nvCxnSpPr>
        <p:spPr>
          <a:xfrm flipH="1" rot="10800000">
            <a:off x="8727120" y="3954810"/>
            <a:ext cx="691200" cy="9300"/>
          </a:xfrm>
          <a:prstGeom prst="straightConnector1">
            <a:avLst/>
          </a:prstGeom>
          <a:noFill/>
          <a:ln cap="flat" cmpd="sng" w="25400">
            <a:solidFill>
              <a:srgbClr val="14213D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23" name="Google Shape;323;p22"/>
          <p:cNvCxnSpPr>
            <a:endCxn id="314" idx="1"/>
          </p:cNvCxnSpPr>
          <p:nvPr/>
        </p:nvCxnSpPr>
        <p:spPr>
          <a:xfrm>
            <a:off x="8727120" y="5050590"/>
            <a:ext cx="691200" cy="1500"/>
          </a:xfrm>
          <a:prstGeom prst="straightConnector1">
            <a:avLst/>
          </a:prstGeom>
          <a:noFill/>
          <a:ln cap="flat" cmpd="sng" w="25400">
            <a:solidFill>
              <a:srgbClr val="14213D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24" name="Google Shape;324;p22"/>
          <p:cNvCxnSpPr/>
          <p:nvPr/>
        </p:nvCxnSpPr>
        <p:spPr>
          <a:xfrm rot="10800000">
            <a:off x="10607040" y="3246060"/>
            <a:ext cx="0" cy="320100"/>
          </a:xfrm>
          <a:prstGeom prst="straightConnector1">
            <a:avLst/>
          </a:prstGeom>
          <a:noFill/>
          <a:ln cap="flat" cmpd="sng" w="25400">
            <a:solidFill>
              <a:srgbClr val="14213D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25" name="Google Shape;325;p22"/>
          <p:cNvCxnSpPr/>
          <p:nvPr/>
        </p:nvCxnSpPr>
        <p:spPr>
          <a:xfrm rot="10800000">
            <a:off x="10607040" y="2011740"/>
            <a:ext cx="0" cy="365700"/>
          </a:xfrm>
          <a:prstGeom prst="straightConnector1">
            <a:avLst/>
          </a:prstGeom>
          <a:noFill/>
          <a:ln cap="flat" cmpd="sng" w="25400">
            <a:solidFill>
              <a:srgbClr val="14213D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3"/>
          <p:cNvSpPr txBox="1"/>
          <p:nvPr>
            <p:ph type="title"/>
          </p:nvPr>
        </p:nvSpPr>
        <p:spPr>
          <a:xfrm>
            <a:off x="548640" y="320040"/>
            <a:ext cx="9235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Multus vs DRA at a glance</a:t>
            </a:r>
            <a:endParaRPr sz="3200"/>
          </a:p>
        </p:txBody>
      </p:sp>
      <p:graphicFrame>
        <p:nvGraphicFramePr>
          <p:cNvPr id="332" name="Google Shape;332;p23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{E2DCDA6A-2ABF-46EA-AEC5-E7FE751CA881}</a:tableStyleId>
              </a:tblPr>
              <a:tblGrid>
                <a:gridCol w="2377450"/>
                <a:gridCol w="4343400"/>
                <a:gridCol w="43434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Multus + NAD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 claim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3" name="Google Shape;333;p23"/>
          <p:cNvGraphicFramePr/>
          <p:nvPr/>
        </p:nvGraphicFramePr>
        <p:xfrm>
          <a:off x="54864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{E2DCDA6A-2ABF-46EA-AEC5-E7FE751CA881}</a:tableStyleId>
              </a:tblPr>
              <a:tblGrid>
                <a:gridCol w="2377450"/>
                <a:gridCol w="4343400"/>
                <a:gridCol w="4343400"/>
              </a:tblGrid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421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Scheduler visibility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C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3341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Annotation, invisible to the scheduler.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C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3341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Claim is a scheduling input. A full pool is refused at scheduling time.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4" name="Google Shape;334;p23"/>
          <p:cNvGraphicFramePr/>
          <p:nvPr/>
        </p:nvGraphicFramePr>
        <p:xfrm>
          <a:off x="548640" y="25420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{E2DCDA6A-2ABF-46EA-AEC5-E7FE751CA881}</a:tableStyleId>
              </a:tblPr>
              <a:tblGrid>
                <a:gridCol w="2377450"/>
                <a:gridCol w="4343400"/>
                <a:gridCol w="4343400"/>
              </a:tblGrid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421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Shared subnet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C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3341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concept of exclusivity.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C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3341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Exclusive by default; AllowMultipleAllocations fixes it.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5" name="Google Shape;335;p23"/>
          <p:cNvGraphicFramePr/>
          <p:nvPr/>
        </p:nvGraphicFramePr>
        <p:xfrm>
          <a:off x="548640" y="32552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{E2DCDA6A-2ABF-46EA-AEC5-E7FE751CA881}</a:tableStyleId>
              </a:tblPr>
              <a:tblGrid>
                <a:gridCol w="2377450"/>
                <a:gridCol w="4343400"/>
                <a:gridCol w="4343400"/>
              </a:tblGrid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421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Lifecycle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C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3341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NAD is configuration.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C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3341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claim has allocate and release states.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6" name="Google Shape;336;p23"/>
          <p:cNvGraphicFramePr/>
          <p:nvPr/>
        </p:nvGraphicFramePr>
        <p:xfrm>
          <a:off x="548640" y="3968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{E2DCDA6A-2ABF-46EA-AEC5-E7FE751CA881}</a:tableStyleId>
              </a:tblPr>
              <a:tblGrid>
                <a:gridCol w="2377450"/>
                <a:gridCol w="4343400"/>
                <a:gridCol w="4343400"/>
              </a:tblGrid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421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Hot-plug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C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3341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KubeVirt hot-plugs Multus NICs its own way.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C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3341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Claims are immutable; VEP-183 non-goal.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7" name="Google Shape;337;p23"/>
          <p:cNvGraphicFramePr/>
          <p:nvPr/>
        </p:nvGraphicFramePr>
        <p:xfrm>
          <a:off x="548640" y="4681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{E2DCDA6A-2ABF-46EA-AEC5-E7FE751CA881}</a:tableStyleId>
              </a:tblPr>
              <a:tblGrid>
                <a:gridCol w="2377450"/>
                <a:gridCol w="4343400"/>
                <a:gridCol w="4343400"/>
              </a:tblGrid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421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C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3341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Separate NAD and CNI chain.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C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3341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allocation path in kube-ovn-controller.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E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8" name="Google Shape;338;p23"/>
          <p:cNvSpPr txBox="1"/>
          <p:nvPr/>
        </p:nvSpPr>
        <p:spPr>
          <a:xfrm>
            <a:off x="548640" y="5669280"/>
            <a:ext cx="1106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For a plain node-agnostic overlay there is no difference. For underlay, the pool of a VLAN subnet selects the nodes of its provider network.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 txBox="1"/>
          <p:nvPr>
            <p:ph idx="4294967295" type="sldNum"/>
          </p:nvPr>
        </p:nvSpPr>
        <p:spPr>
          <a:xfrm>
            <a:off x="10424160" y="644652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/>
          <p:nvPr>
            <p:ph type="title"/>
          </p:nvPr>
        </p:nvSpPr>
        <p:spPr>
          <a:xfrm>
            <a:off x="548640" y="320040"/>
            <a:ext cx="9235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Attach time: DRA stays flat</a:t>
            </a:r>
            <a:endParaRPr sz="3200"/>
          </a:p>
        </p:txBody>
      </p:sp>
      <p:pic>
        <p:nvPicPr>
          <p:cNvPr id="346" name="Google Shape;3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71600"/>
            <a:ext cx="6949440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4"/>
          <p:cNvSpPr txBox="1"/>
          <p:nvPr/>
        </p:nvSpPr>
        <p:spPr>
          <a:xfrm>
            <a:off x="7955280" y="146304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AA7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0E9AA7"/>
                </a:solidFill>
                <a:latin typeface="Cambria"/>
                <a:ea typeface="Cambria"/>
                <a:cs typeface="Cambria"/>
                <a:sym typeface="Cambria"/>
              </a:rPr>
              <a:t>7–12 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4"/>
          <p:cNvSpPr txBox="1"/>
          <p:nvPr/>
        </p:nvSpPr>
        <p:spPr>
          <a:xfrm>
            <a:off x="7955280" y="219456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DRA, 2 to 8 NICs (all 90 runs)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 txBox="1"/>
          <p:nvPr/>
        </p:nvSpPr>
        <p:spPr>
          <a:xfrm>
            <a:off x="7955280" y="301752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21 → 59 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 txBox="1"/>
          <p:nvPr/>
        </p:nvSpPr>
        <p:spPr>
          <a:xfrm>
            <a:off x="7955280" y="374904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Multus static, +13 s per extra pair of NICs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4"/>
          <p:cNvSpPr txBox="1"/>
          <p:nvPr/>
        </p:nvSpPr>
        <p:spPr>
          <a:xfrm>
            <a:off x="7955280" y="457200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~21 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4"/>
          <p:cNvSpPr txBox="1"/>
          <p:nvPr/>
        </p:nvSpPr>
        <p:spPr>
          <a:xfrm>
            <a:off x="7955280" y="53035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hot-plug: Ready with 2 NICs; 8 NICs in total ~54 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 txBox="1"/>
          <p:nvPr/>
        </p:nvSpPr>
        <p:spPr>
          <a:xfrm>
            <a:off x="548640" y="605332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Overlay mode, median of 10 runs; underlay and mixed within about 1 s. kind 1.35, 1 control-plane + 1 worker, homelab node.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 txBox="1"/>
          <p:nvPr>
            <p:ph idx="4294967295" type="sldNum"/>
          </p:nvPr>
        </p:nvSpPr>
        <p:spPr>
          <a:xfrm>
            <a:off x="104241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5"/>
          <p:cNvSpPr txBox="1"/>
          <p:nvPr>
            <p:ph type="title"/>
          </p:nvPr>
        </p:nvSpPr>
        <p:spPr>
          <a:xfrm>
            <a:off x="548640" y="320040"/>
            <a:ext cx="9235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Is an SDN in scope for DRA?</a:t>
            </a:r>
            <a:endParaRPr sz="3200"/>
          </a:p>
        </p:txBody>
      </p:sp>
      <p:sp>
        <p:nvSpPr>
          <p:cNvPr id="361" name="Google Shape;361;p25"/>
          <p:cNvSpPr/>
          <p:nvPr/>
        </p:nvSpPr>
        <p:spPr>
          <a:xfrm>
            <a:off x="548640" y="1371600"/>
            <a:ext cx="3566100" cy="2926200"/>
          </a:xfrm>
          <a:prstGeom prst="roundRect">
            <a:avLst>
              <a:gd fmla="val 3125" name="adj"/>
            </a:avLst>
          </a:prstGeom>
          <a:solidFill>
            <a:srgbClr val="F4F7FA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822960" y="1645920"/>
            <a:ext cx="548700" cy="54870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5"/>
          <p:cNvSpPr txBox="1"/>
          <p:nvPr/>
        </p:nvSpPr>
        <p:spPr>
          <a:xfrm>
            <a:off x="822960" y="164592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 txBox="1"/>
          <p:nvPr/>
        </p:nvSpPr>
        <p:spPr>
          <a:xfrm>
            <a:off x="822960" y="2377440"/>
            <a:ext cx="30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Framework: yes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5"/>
          <p:cNvSpPr txBox="1"/>
          <p:nvPr/>
        </p:nvSpPr>
        <p:spPr>
          <a:xfrm>
            <a:off x="822960" y="2926080"/>
            <a:ext cx="3017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DRA doesn't care where a device comes from. This works end to end.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4297680" y="1371600"/>
            <a:ext cx="3566100" cy="2926200"/>
          </a:xfrm>
          <a:prstGeom prst="roundRect">
            <a:avLst>
              <a:gd fmla="val 3125" name="adj"/>
            </a:avLst>
          </a:prstGeom>
          <a:solidFill>
            <a:srgbClr val="F4F7FA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4572000" y="1645920"/>
            <a:ext cx="548700" cy="54870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5"/>
          <p:cNvSpPr txBox="1"/>
          <p:nvPr/>
        </p:nvSpPr>
        <p:spPr>
          <a:xfrm>
            <a:off x="4572000" y="164592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 txBox="1"/>
          <p:nvPr/>
        </p:nvSpPr>
        <p:spPr>
          <a:xfrm>
            <a:off x="4572000" y="2377440"/>
            <a:ext cx="30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Intent: uneven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 txBox="1"/>
          <p:nvPr/>
        </p:nvSpPr>
        <p:spPr>
          <a:xfrm>
            <a:off x="4572000" y="2926080"/>
            <a:ext cx="3017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Overlay: a provisioning trigger. Underlay: node-bound pools with limited addresses.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8046720" y="1371600"/>
            <a:ext cx="3566100" cy="2926200"/>
          </a:xfrm>
          <a:prstGeom prst="roundRect">
            <a:avLst>
              <a:gd fmla="val 3125" name="adj"/>
            </a:avLst>
          </a:prstGeom>
          <a:solidFill>
            <a:srgbClr val="F4F7FA"/>
          </a:solidFill>
          <a:ln cap="flat" cmpd="sng" w="1270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8321040" y="1645920"/>
            <a:ext cx="548700" cy="54870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 txBox="1"/>
          <p:nvPr/>
        </p:nvSpPr>
        <p:spPr>
          <a:xfrm>
            <a:off x="8321040" y="164592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 txBox="1"/>
          <p:nvPr/>
        </p:nvSpPr>
        <p:spPr>
          <a:xfrm>
            <a:off x="8321040" y="2377440"/>
            <a:ext cx="30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Ownership: partly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 txBox="1"/>
          <p:nvPr/>
        </p:nvSpPr>
        <p:spPr>
          <a:xfrm>
            <a:off x="8321040" y="2926080"/>
            <a:ext cx="3017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An IP from a pool is a resource. Attaching to a network is configuration.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548640" y="4754880"/>
            <a:ext cx="11064300" cy="1234500"/>
          </a:xfrm>
          <a:prstGeom prst="roundRect">
            <a:avLst>
              <a:gd fmla="val 7407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5"/>
          <p:cNvSpPr txBox="1"/>
          <p:nvPr/>
        </p:nvSpPr>
        <p:spPr>
          <a:xfrm>
            <a:off x="822960" y="4754880"/>
            <a:ext cx="10515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D8DD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9FD8DD"/>
                </a:solidFill>
                <a:latin typeface="Cambria"/>
                <a:ea typeface="Cambria"/>
                <a:cs typeface="Cambria"/>
                <a:sym typeface="Cambria"/>
              </a:rPr>
              <a:t>The split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Resources via DRA, configuration via a network API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5"/>
          <p:cNvSpPr txBox="1"/>
          <p:nvPr>
            <p:ph idx="4294967295" type="sldNum"/>
          </p:nvPr>
        </p:nvSpPr>
        <p:spPr>
          <a:xfrm>
            <a:off x="10424160" y="644652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 txBox="1"/>
          <p:nvPr>
            <p:ph type="title"/>
          </p:nvPr>
        </p:nvSpPr>
        <p:spPr>
          <a:xfrm>
            <a:off x="548640" y="320040"/>
            <a:ext cx="9235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Where this goes next</a:t>
            </a:r>
            <a:endParaRPr sz="3200"/>
          </a:p>
        </p:txBody>
      </p:sp>
      <p:sp>
        <p:nvSpPr>
          <p:cNvPr id="385" name="Google Shape;385;p26"/>
          <p:cNvSpPr txBox="1"/>
          <p:nvPr/>
        </p:nvSpPr>
        <p:spPr>
          <a:xfrm>
            <a:off x="548640" y="1325880"/>
            <a:ext cx="539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Path into kube-ovn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548640" y="1920240"/>
            <a:ext cx="5394900" cy="1143000"/>
          </a:xfrm>
          <a:prstGeom prst="roundRect">
            <a:avLst>
              <a:gd fmla="val 8000" name="adj"/>
            </a:avLst>
          </a:prstGeom>
          <a:solidFill>
            <a:srgbClr val="D9F0EC"/>
          </a:solidFill>
          <a:ln cap="flat" cmpd="sng" w="15875">
            <a:solidFill>
              <a:srgbClr val="3C9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6"/>
          <p:cNvSpPr txBox="1"/>
          <p:nvPr/>
        </p:nvSpPr>
        <p:spPr>
          <a:xfrm>
            <a:off x="777240" y="1920240"/>
            <a:ext cx="498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Controller side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In a branch behind --enable-dra-nic, proposed upstream: kubeovn/kube-ovn#7669.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26"/>
          <p:cNvCxnSpPr/>
          <p:nvPr/>
        </p:nvCxnSpPr>
        <p:spPr>
          <a:xfrm>
            <a:off x="3246120" y="306324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1421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9" name="Google Shape;389;p26"/>
          <p:cNvSpPr/>
          <p:nvPr/>
        </p:nvSpPr>
        <p:spPr>
          <a:xfrm>
            <a:off x="548640" y="3291840"/>
            <a:ext cx="5394900" cy="1143000"/>
          </a:xfrm>
          <a:prstGeom prst="roundRect">
            <a:avLst>
              <a:gd fmla="val 8000" name="adj"/>
            </a:avLst>
          </a:prstGeom>
          <a:solidFill>
            <a:srgbClr val="DCE8F5"/>
          </a:solidFill>
          <a:ln cap="flat" cmpd="sng" w="15875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6"/>
          <p:cNvSpPr txBox="1"/>
          <p:nvPr/>
        </p:nvSpPr>
        <p:spPr>
          <a:xfrm>
            <a:off x="777240" y="3291840"/>
            <a:ext cx="498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Node side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DRA kubelet plugin and NRI hook could move into kube-ovn-cni, an open question in the issue; the publisher logic can join kube-ovn-controller.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26"/>
          <p:cNvCxnSpPr/>
          <p:nvPr/>
        </p:nvCxnSpPr>
        <p:spPr>
          <a:xfrm>
            <a:off x="3246120" y="443484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14213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2" name="Google Shape;392;p26"/>
          <p:cNvSpPr/>
          <p:nvPr/>
        </p:nvSpPr>
        <p:spPr>
          <a:xfrm>
            <a:off x="548640" y="4663440"/>
            <a:ext cx="5394900" cy="1143000"/>
          </a:xfrm>
          <a:prstGeom prst="roundRect">
            <a:avLst>
              <a:gd fmla="val 8000" name="adj"/>
            </a:avLst>
          </a:prstGeom>
          <a:solidFill>
            <a:srgbClr val="EEF1F5"/>
          </a:solidFill>
          <a:ln cap="flat" cmpd="sng" w="15875">
            <a:solidFill>
              <a:srgbClr val="9AA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6"/>
          <p:cNvSpPr txBox="1"/>
          <p:nvPr/>
        </p:nvSpPr>
        <p:spPr>
          <a:xfrm>
            <a:off x="777240" y="4663440"/>
            <a:ext cx="498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Retire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External driver, fork and binding sidecar.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6"/>
          <p:cNvSpPr txBox="1"/>
          <p:nvPr/>
        </p:nvSpPr>
        <p:spPr>
          <a:xfrm>
            <a:off x="6309360" y="1325880"/>
            <a:ext cx="530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API gaps in multi-network-api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6309360" y="1920240"/>
            <a:ext cx="53034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15C"/>
              </a:buClr>
              <a:buSzPts val="1700"/>
              <a:buFont typeface="Calibri"/>
              <a:buAutoNum type="arabicPeriod"/>
            </a:pPr>
            <a:r>
              <a:rPr b="0" i="0" lang="en-US" sz="17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Network → DeviceClass binding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15C"/>
              </a:buClr>
              <a:buSzPts val="1700"/>
              <a:buFont typeface="Calibri"/>
              <a:buAutoNum type="arabicPeriod"/>
            </a:pPr>
            <a:r>
              <a:rPr b="0" i="0" lang="en-US" sz="17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Interface-name ownership (net1, net2, …)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15C"/>
              </a:buClr>
              <a:buSzPts val="1700"/>
              <a:buFont typeface="Calibri"/>
              <a:buAutoNum type="arabicPeriod"/>
            </a:pPr>
            <a:r>
              <a:rPr b="0" i="0" lang="en-US" sz="17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A standard network-capacity signal (published per subnet here)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6309360" y="3657600"/>
            <a:ext cx="53034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Moving in parallel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415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KNDM / DraNet: the same DRA + NRI model; kube-ovn adds the SDN backend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415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KubeVirt VEP-183: ResourceClaim as a VM network source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415C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3415C"/>
                </a:solidFill>
                <a:latin typeface="Calibri"/>
                <a:ea typeface="Calibri"/>
                <a:cs typeface="Calibri"/>
                <a:sym typeface="Calibri"/>
              </a:rPr>
              <a:t>multi-network-api: NetworkKind vs PodNetwork, both built on DRA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6"/>
          <p:cNvSpPr txBox="1"/>
          <p:nvPr>
            <p:ph idx="4294967295" type="sldNum"/>
          </p:nvPr>
        </p:nvSpPr>
        <p:spPr>
          <a:xfrm>
            <a:off x="10424160" y="644652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7"/>
          <p:cNvSpPr txBox="1"/>
          <p:nvPr>
            <p:ph type="title"/>
          </p:nvPr>
        </p:nvSpPr>
        <p:spPr>
          <a:xfrm>
            <a:off x="548640" y="320040"/>
            <a:ext cx="9235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Takeaways</a:t>
            </a:r>
            <a:endParaRPr sz="3200"/>
          </a:p>
        </p:txBody>
      </p:sp>
      <p:sp>
        <p:nvSpPr>
          <p:cNvPr id="404" name="Google Shape;404;p27"/>
          <p:cNvSpPr/>
          <p:nvPr/>
        </p:nvSpPr>
        <p:spPr>
          <a:xfrm>
            <a:off x="548640" y="1490472"/>
            <a:ext cx="502920" cy="50292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7"/>
          <p:cNvSpPr txBox="1"/>
          <p:nvPr/>
        </p:nvSpPr>
        <p:spPr>
          <a:xfrm>
            <a:off x="548640" y="14904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7"/>
          <p:cNvSpPr txBox="1"/>
          <p:nvPr/>
        </p:nvSpPr>
        <p:spPr>
          <a:xfrm>
            <a:off x="1280160" y="141732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Complementary, not a verdict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Multus and DRA differ in visibility, IP handling and lifecycle.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548640" y="2724912"/>
            <a:ext cx="502920" cy="50292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548640" y="27249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1280160" y="265176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On an SDN, the work is in the control plane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The node side is thin.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7"/>
          <p:cNvSpPr/>
          <p:nvPr/>
        </p:nvSpPr>
        <p:spPr>
          <a:xfrm>
            <a:off x="548640" y="3959352"/>
            <a:ext cx="502920" cy="502920"/>
          </a:xfrm>
          <a:prstGeom prst="ellipse">
            <a:avLst/>
          </a:prstGeom>
          <a:solidFill>
            <a:srgbClr val="0E9AA7"/>
          </a:solidFill>
          <a:ln cap="flat" cmpd="sng" w="12700">
            <a:solidFill>
              <a:srgbClr val="0E9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548640" y="39593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 txBox="1"/>
          <p:nvPr/>
        </p:nvSpPr>
        <p:spPr>
          <a:xfrm>
            <a:off x="1280160" y="388620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So it belongs in kube-ovn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Controller first, node side later, in one release.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fmla="val 7692" name="adj"/>
            </a:avLst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7"/>
          <p:cNvSpPr txBox="1"/>
          <p:nvPr/>
        </p:nvSpPr>
        <p:spPr>
          <a:xfrm>
            <a:off x="822960" y="507492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github.com/soer3n/kube-ovn-dra-driver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lang="en-US"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github.com/soer3n/kube-ovn-network-binding-plugin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9FD8DD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9FD8DD"/>
                </a:solidFill>
                <a:latin typeface="Calibri"/>
                <a:ea typeface="Calibri"/>
                <a:cs typeface="Calibri"/>
                <a:sym typeface="Calibri"/>
              </a:rPr>
              <a:t>Questions and feedback welcome in the issue, or on Slack: @soer3n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7"/>
          <p:cNvSpPr txBox="1"/>
          <p:nvPr>
            <p:ph idx="4294967295" type="sldNum"/>
          </p:nvPr>
        </p:nvSpPr>
        <p:spPr>
          <a:xfrm>
            <a:off x="10424160" y="64465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C6B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r-7669.png" id="416" name="Google Shape;41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0736" y="5111496"/>
            <a:ext cx="1115568" cy="1115568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7"/>
          <p:cNvSpPr txBox="1"/>
          <p:nvPr/>
        </p:nvSpPr>
        <p:spPr>
          <a:xfrm>
            <a:off x="7680960" y="5074920"/>
            <a:ext cx="267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Discussion upstream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kubeovn/kube-ovn#7669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kube-ovn-dra">
  <a:themeElements>
    <a:clrScheme name="kube-ovn-dra">
      <a:dk1>
        <a:srgbClr val="14213D"/>
      </a:dk1>
      <a:lt1>
        <a:srgbClr val="FFFFFF"/>
      </a:lt1>
      <a:dk2>
        <a:srgbClr val="5C6B7A"/>
      </a:dk2>
      <a:lt2>
        <a:srgbClr val="F4F7FA"/>
      </a:lt2>
      <a:accent1>
        <a:srgbClr val="0E9AA7"/>
      </a:accent1>
      <a:accent2>
        <a:srgbClr val="F2A03D"/>
      </a:accent2>
      <a:accent3>
        <a:srgbClr val="5B7FA6"/>
      </a:accent3>
      <a:accent4>
        <a:srgbClr val="3C9A8C"/>
      </a:accent4>
      <a:accent5>
        <a:srgbClr val="C98A2B"/>
      </a:accent5>
      <a:accent6>
        <a:srgbClr val="C0504D"/>
      </a:accent6>
      <a:hlink>
        <a:srgbClr val="0E9AA7"/>
      </a:hlink>
      <a:folHlink>
        <a:srgbClr val="5C6B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ube-ovn-dra">
  <a:themeElements>
    <a:clrScheme name="kube-ovn-dra">
      <a:dk1>
        <a:srgbClr val="14213D"/>
      </a:dk1>
      <a:lt1>
        <a:srgbClr val="FFFFFF"/>
      </a:lt1>
      <a:dk2>
        <a:srgbClr val="5C6B7A"/>
      </a:dk2>
      <a:lt2>
        <a:srgbClr val="F4F7FA"/>
      </a:lt2>
      <a:accent1>
        <a:srgbClr val="0E9AA7"/>
      </a:accent1>
      <a:accent2>
        <a:srgbClr val="F2A03D"/>
      </a:accent2>
      <a:accent3>
        <a:srgbClr val="5B7FA6"/>
      </a:accent3>
      <a:accent4>
        <a:srgbClr val="3C9A8C"/>
      </a:accent4>
      <a:accent5>
        <a:srgbClr val="C98A2B"/>
      </a:accent5>
      <a:accent6>
        <a:srgbClr val="C0504D"/>
      </a:accent6>
      <a:hlink>
        <a:srgbClr val="0E9AA7"/>
      </a:hlink>
      <a:folHlink>
        <a:srgbClr val="5C6B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kube-ovn-dra">
  <a:themeElements>
    <a:clrScheme name="kube-ovn-dra">
      <a:dk1>
        <a:srgbClr val="14213D"/>
      </a:dk1>
      <a:lt1>
        <a:srgbClr val="FFFFFF"/>
      </a:lt1>
      <a:dk2>
        <a:srgbClr val="5C6B7A"/>
      </a:dk2>
      <a:lt2>
        <a:srgbClr val="F4F7FA"/>
      </a:lt2>
      <a:accent1>
        <a:srgbClr val="0E9AA7"/>
      </a:accent1>
      <a:accent2>
        <a:srgbClr val="F2A03D"/>
      </a:accent2>
      <a:accent3>
        <a:srgbClr val="5B7FA6"/>
      </a:accent3>
      <a:accent4>
        <a:srgbClr val="3C9A8C"/>
      </a:accent4>
      <a:accent5>
        <a:srgbClr val="C98A2B"/>
      </a:accent5>
      <a:accent6>
        <a:srgbClr val="C0504D"/>
      </a:accent6>
      <a:hlink>
        <a:srgbClr val="0E9AA7"/>
      </a:hlink>
      <a:folHlink>
        <a:srgbClr val="5C6B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kube-ovn-dra">
  <a:themeElements>
    <a:clrScheme name="kube-ovn-dra">
      <a:dk1>
        <a:srgbClr val="14213D"/>
      </a:dk1>
      <a:lt1>
        <a:srgbClr val="FFFFFF"/>
      </a:lt1>
      <a:dk2>
        <a:srgbClr val="5C6B7A"/>
      </a:dk2>
      <a:lt2>
        <a:srgbClr val="F4F7FA"/>
      </a:lt2>
      <a:accent1>
        <a:srgbClr val="0E9AA7"/>
      </a:accent1>
      <a:accent2>
        <a:srgbClr val="F2A03D"/>
      </a:accent2>
      <a:accent3>
        <a:srgbClr val="5B7FA6"/>
      </a:accent3>
      <a:accent4>
        <a:srgbClr val="3C9A8C"/>
      </a:accent4>
      <a:accent5>
        <a:srgbClr val="C98A2B"/>
      </a:accent5>
      <a:accent6>
        <a:srgbClr val="C0504D"/>
      </a:accent6>
      <a:hlink>
        <a:srgbClr val="0E9AA7"/>
      </a:hlink>
      <a:folHlink>
        <a:srgbClr val="5C6B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